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webextensions/webextension1.xml" ContentType="application/vnd.ms-office.webextension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webextensions/webextension2.xml" ContentType="application/vnd.ms-office.webextension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webextensions/webextension3.xml" ContentType="application/vnd.ms-office.webextension+xml"/>
  <Override PartName="/ppt/notesSlides/notesSlide16.xml" ContentType="application/vnd.openxmlformats-officedocument.presentationml.notesSlide+xml"/>
  <Override PartName="/ppt/webextensions/webextension4.xml" ContentType="application/vnd.ms-office.webextension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6" r:id="rId3"/>
    <p:sldId id="268" r:id="rId4"/>
    <p:sldId id="277" r:id="rId5"/>
    <p:sldId id="281" r:id="rId6"/>
    <p:sldId id="269" r:id="rId7"/>
    <p:sldId id="270" r:id="rId8"/>
    <p:sldId id="271" r:id="rId9"/>
    <p:sldId id="272" r:id="rId10"/>
    <p:sldId id="282" r:id="rId11"/>
    <p:sldId id="262" r:id="rId12"/>
    <p:sldId id="278" r:id="rId13"/>
    <p:sldId id="273" r:id="rId14"/>
    <p:sldId id="263" r:id="rId15"/>
    <p:sldId id="279" r:id="rId16"/>
    <p:sldId id="274" r:id="rId17"/>
    <p:sldId id="264" r:id="rId18"/>
    <p:sldId id="280" r:id="rId19"/>
    <p:sldId id="275" r:id="rId20"/>
    <p:sldId id="265" r:id="rId21"/>
    <p:sldId id="276" r:id="rId22"/>
    <p:sldId id="283" r:id="rId23"/>
    <p:sldId id="261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1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7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657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47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57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65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814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68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24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62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23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64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634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3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27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51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42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65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897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4.mp4"/><Relationship Id="rId1" Type="http://schemas.openxmlformats.org/officeDocument/2006/relationships/video" Target="NULL" TargetMode="Externa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928" y="45720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53619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 O R N O   &amp;   V I N 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371600" y="1874520"/>
            <a:ext cx="94484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Restaurant Sales</a:t>
            </a:r>
            <a:endParaRPr lang="en-US" sz="3800" dirty="0"/>
          </a:p>
          <a:p>
            <a:pPr marL="0" indent="0" algn="ctr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Analytics Dashboard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011680" y="3063240"/>
            <a:ext cx="8168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E9D9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Intelligence Dashboard using Power BI, SQL Server &amp; Python — Executive insight into revenue,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E9D9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performance, and branch operations across the Forno &amp; Vine restaurant group.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135728" y="376732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  <a:effectLst>
            <a:outerShdw blurRad="127000" dist="38100" dir="5400000" algn="bl" rotWithShape="0">
              <a:srgbClr val="D4AF37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135728" y="3767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A1C0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Analysis  →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23748" y="452628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628" y="4690872"/>
            <a:ext cx="310896" cy="310896"/>
          </a:xfrm>
          <a:prstGeom prst="line">
            <a:avLst/>
          </a:prstGeom>
          <a:solidFill>
            <a:srgbClr val="D4AF37">
              <a:alpha val="2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6628" y="4690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06628" y="5074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Overview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06628" y="55138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dirty="0">
                <a:solidFill>
                  <a:srgbClr val="D9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Company-wide revenue, orders &amp; performance trends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3466948" y="452628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49828" y="4690872"/>
            <a:ext cx="310896" cy="310896"/>
          </a:xfrm>
          <a:prstGeom prst="line">
            <a:avLst/>
          </a:prstGeom>
          <a:solidFill>
            <a:srgbClr val="D4AF37">
              <a:alpha val="2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49828" y="4690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49828" y="5074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Menu &amp; Product Performance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49828" y="55138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dirty="0">
                <a:solidFill>
                  <a:srgbClr val="D9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sellers, categories &amp; product profitability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6210148" y="452628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93028" y="4690872"/>
            <a:ext cx="310896" cy="310896"/>
          </a:xfrm>
          <a:prstGeom prst="line">
            <a:avLst/>
          </a:prstGeom>
          <a:solidFill>
            <a:srgbClr val="D4AF37">
              <a:alpha val="2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93028" y="4690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93028" y="5074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Branch &amp; Operations Performance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93028" y="55138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dirty="0">
                <a:solidFill>
                  <a:srgbClr val="D9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Branch, waiter &amp; service efficiency benchmarking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8953348" y="452628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36228" y="4690872"/>
            <a:ext cx="310896" cy="310896"/>
          </a:xfrm>
          <a:prstGeom prst="line">
            <a:avLst/>
          </a:prstGeom>
          <a:solidFill>
            <a:srgbClr val="D4AF37">
              <a:alpha val="22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36228" y="4690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136228" y="50749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Insights &amp; Recommendations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36228" y="55138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30" dirty="0">
                <a:solidFill>
                  <a:srgbClr val="D9C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&amp; strategic next steps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0" y="6172200"/>
            <a:ext cx="1219169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B8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with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0" y="6382512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	• </a:t>
            </a:r>
            <a:r>
              <a:rPr lang="en-US" sz="1000" b="1" kern="0" spc="100" dirty="0">
                <a:solidFill>
                  <a:srgbClr val="E8CC6B"/>
                </a:solidFill>
                <a:latin typeface="Poppins" pitchFamily="34" charset="0"/>
                <a:cs typeface="Poppins" pitchFamily="34" charset="-120"/>
              </a:rPr>
              <a:t>Data Warehouse	</a:t>
            </a:r>
            <a:r>
              <a:rPr lang="en-US" sz="1000" b="1" kern="0" spc="100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• SQL SERVER	</a:t>
            </a:r>
            <a:r>
              <a:rPr lang="en-US" sz="1000" b="1" kern="0" spc="100" dirty="0">
                <a:solidFill>
                  <a:srgbClr val="E8CC6B"/>
                </a:solidFill>
                <a:latin typeface="Poppins" pitchFamily="34" charset="0"/>
                <a:cs typeface="Poppins" pitchFamily="34" charset="-120"/>
              </a:rPr>
              <a:t> </a:t>
            </a:r>
            <a:r>
              <a:rPr lang="en-US" sz="1000" b="1" kern="0" spc="100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POWER BI    	</a:t>
            </a:r>
            <a:endParaRPr lang="en-US" sz="1000" b="1" kern="0" spc="100" dirty="0">
              <a:solidFill>
                <a:srgbClr val="E8CC6B"/>
              </a:solidFill>
              <a:latin typeface="Poppins" pitchFamily="34" charset="0"/>
              <a:cs typeface="Poppins" pitchFamily="34" charset="-12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BE0FDA-A9DD-1D82-9455-967CEC865D00}"/>
              </a:ext>
            </a:extLst>
          </p:cNvPr>
          <p:cNvSpPr txBox="1"/>
          <p:nvPr/>
        </p:nvSpPr>
        <p:spPr>
          <a:xfrm>
            <a:off x="190348" y="7315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lang="en-US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PREPARED BY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Eng. Dina Mohsen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>
            <a:extLst>
              <a:ext uri="{FF2B5EF4-FFF2-40B4-BE49-F238E27FC236}">
                <a16:creationId xmlns:a16="http://schemas.microsoft.com/office/drawing/2014/main" id="{A8DBA8AA-27DC-FC73-F7FD-D5042540E24C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dirty="0"/>
              <a:t>Table of Contents &amp; Agenda</a:t>
            </a:r>
          </a:p>
        </p:txBody>
      </p:sp>
      <p:sp>
        <p:nvSpPr>
          <p:cNvPr id="109" name="Rounded Rectangle 2">
            <a:extLst>
              <a:ext uri="{FF2B5EF4-FFF2-40B4-BE49-F238E27FC236}">
                <a16:creationId xmlns:a16="http://schemas.microsoft.com/office/drawing/2014/main" id="{B2DC4319-7569-F8F6-68B0-146F8E3077C8}"/>
              </a:ext>
            </a:extLst>
          </p:cNvPr>
          <p:cNvSpPr/>
          <p:nvPr/>
        </p:nvSpPr>
        <p:spPr>
          <a:xfrm>
            <a:off x="731520" y="1371600"/>
            <a:ext cx="5120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FE5C2B5-0AC4-8FD1-ACD2-60FCF13108D6}"/>
              </a:ext>
            </a:extLst>
          </p:cNvPr>
          <p:cNvSpPr/>
          <p:nvPr/>
        </p:nvSpPr>
        <p:spPr>
          <a:xfrm>
            <a:off x="731520" y="1371600"/>
            <a:ext cx="822960" cy="9144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rPr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B66990D-E8A3-02D7-5DAB-5A6EC223845E}"/>
              </a:ext>
            </a:extLst>
          </p:cNvPr>
          <p:cNvSpPr txBox="1"/>
          <p:nvPr/>
        </p:nvSpPr>
        <p:spPr>
          <a:xfrm>
            <a:off x="1737360" y="15087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Project Overview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End-to-end data analytics workflow</a:t>
            </a:r>
          </a:p>
        </p:txBody>
      </p:sp>
      <p:sp>
        <p:nvSpPr>
          <p:cNvPr id="112" name="Rounded Rectangle 5">
            <a:extLst>
              <a:ext uri="{FF2B5EF4-FFF2-40B4-BE49-F238E27FC236}">
                <a16:creationId xmlns:a16="http://schemas.microsoft.com/office/drawing/2014/main" id="{E27F6F76-A4F8-DCF1-FCD4-2AA52AFDD26A}"/>
              </a:ext>
            </a:extLst>
          </p:cNvPr>
          <p:cNvSpPr/>
          <p:nvPr/>
        </p:nvSpPr>
        <p:spPr>
          <a:xfrm>
            <a:off x="6339535" y="1371600"/>
            <a:ext cx="5120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44F9915-6B05-DDE8-63F1-864C8EC2368D}"/>
              </a:ext>
            </a:extLst>
          </p:cNvPr>
          <p:cNvSpPr/>
          <p:nvPr/>
        </p:nvSpPr>
        <p:spPr>
          <a:xfrm>
            <a:off x="6339535" y="1371600"/>
            <a:ext cx="822960" cy="9144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rPr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D4FED1C-FCA8-3160-AB37-EF304ACC138D}"/>
              </a:ext>
            </a:extLst>
          </p:cNvPr>
          <p:cNvSpPr txBox="1"/>
          <p:nvPr/>
        </p:nvSpPr>
        <p:spPr>
          <a:xfrm>
            <a:off x="7345375" y="15087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Dataset Overview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19,000+ transaction records analysis</a:t>
            </a:r>
          </a:p>
        </p:txBody>
      </p:sp>
      <p:sp>
        <p:nvSpPr>
          <p:cNvPr id="115" name="Rounded Rectangle 8">
            <a:extLst>
              <a:ext uri="{FF2B5EF4-FFF2-40B4-BE49-F238E27FC236}">
                <a16:creationId xmlns:a16="http://schemas.microsoft.com/office/drawing/2014/main" id="{ECDC9581-C8EF-C6C3-1EAF-ECE92C29923A}"/>
              </a:ext>
            </a:extLst>
          </p:cNvPr>
          <p:cNvSpPr/>
          <p:nvPr/>
        </p:nvSpPr>
        <p:spPr>
          <a:xfrm>
            <a:off x="731520" y="2468880"/>
            <a:ext cx="5120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6792DDE-27DB-D36C-C8F8-FB55878109AE}"/>
              </a:ext>
            </a:extLst>
          </p:cNvPr>
          <p:cNvSpPr/>
          <p:nvPr/>
        </p:nvSpPr>
        <p:spPr>
          <a:xfrm>
            <a:off x="731520" y="2468880"/>
            <a:ext cx="822960" cy="9144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rPr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38C4B12-1DF1-17CB-7363-CD0CFB2B139B}"/>
              </a:ext>
            </a:extLst>
          </p:cNvPr>
          <p:cNvSpPr txBox="1"/>
          <p:nvPr/>
        </p:nvSpPr>
        <p:spPr>
          <a:xfrm>
            <a:off x="1737360" y="26060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Python Workflow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Data cleaning &amp; feature engineering</a:t>
            </a:r>
          </a:p>
        </p:txBody>
      </p:sp>
      <p:sp>
        <p:nvSpPr>
          <p:cNvPr id="118" name="Rounded Rectangle 11">
            <a:extLst>
              <a:ext uri="{FF2B5EF4-FFF2-40B4-BE49-F238E27FC236}">
                <a16:creationId xmlns:a16="http://schemas.microsoft.com/office/drawing/2014/main" id="{CA46E224-D8FB-6DC2-24E6-F317A60926BC}"/>
              </a:ext>
            </a:extLst>
          </p:cNvPr>
          <p:cNvSpPr/>
          <p:nvPr/>
        </p:nvSpPr>
        <p:spPr>
          <a:xfrm>
            <a:off x="6339535" y="2468880"/>
            <a:ext cx="5120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E66935A-AAA0-F8E1-6201-41B9C830298B}"/>
              </a:ext>
            </a:extLst>
          </p:cNvPr>
          <p:cNvSpPr/>
          <p:nvPr/>
        </p:nvSpPr>
        <p:spPr>
          <a:xfrm>
            <a:off x="6339535" y="2468880"/>
            <a:ext cx="822960" cy="9144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rPr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BDFE21C-E453-E90A-42D3-2C064FEDDE78}"/>
              </a:ext>
            </a:extLst>
          </p:cNvPr>
          <p:cNvSpPr txBox="1"/>
          <p:nvPr/>
        </p:nvSpPr>
        <p:spPr>
          <a:xfrm>
            <a:off x="7345375" y="26060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Star Schema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Dimensional data warehouse design</a:t>
            </a:r>
          </a:p>
        </p:txBody>
      </p:sp>
      <p:sp>
        <p:nvSpPr>
          <p:cNvPr id="121" name="Rounded Rectangle 14">
            <a:extLst>
              <a:ext uri="{FF2B5EF4-FFF2-40B4-BE49-F238E27FC236}">
                <a16:creationId xmlns:a16="http://schemas.microsoft.com/office/drawing/2014/main" id="{C939C198-1A0F-CDAC-05C5-297048A283D8}"/>
              </a:ext>
            </a:extLst>
          </p:cNvPr>
          <p:cNvSpPr/>
          <p:nvPr/>
        </p:nvSpPr>
        <p:spPr>
          <a:xfrm>
            <a:off x="731520" y="3566160"/>
            <a:ext cx="5120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580536D-9413-5982-462A-D585FEDEB06D}"/>
              </a:ext>
            </a:extLst>
          </p:cNvPr>
          <p:cNvSpPr/>
          <p:nvPr/>
        </p:nvSpPr>
        <p:spPr>
          <a:xfrm>
            <a:off x="731520" y="3566160"/>
            <a:ext cx="822960" cy="9144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rPr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B984CB7-5319-B9DD-428D-C341DA4345D9}"/>
              </a:ext>
            </a:extLst>
          </p:cNvPr>
          <p:cNvSpPr txBox="1"/>
          <p:nvPr/>
        </p:nvSpPr>
        <p:spPr>
          <a:xfrm>
            <a:off x="1737360" y="37033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SQL Analysis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Business question query pipeline</a:t>
            </a:r>
          </a:p>
        </p:txBody>
      </p:sp>
      <p:sp>
        <p:nvSpPr>
          <p:cNvPr id="124" name="Rounded Rectangle 17">
            <a:extLst>
              <a:ext uri="{FF2B5EF4-FFF2-40B4-BE49-F238E27FC236}">
                <a16:creationId xmlns:a16="http://schemas.microsoft.com/office/drawing/2014/main" id="{BE5BB38A-41EB-01F2-AEA9-2B48F74F6D0A}"/>
              </a:ext>
            </a:extLst>
          </p:cNvPr>
          <p:cNvSpPr/>
          <p:nvPr/>
        </p:nvSpPr>
        <p:spPr>
          <a:xfrm>
            <a:off x="6339535" y="3566160"/>
            <a:ext cx="5120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B27BA8B-4701-E394-DF08-070923D39A44}"/>
              </a:ext>
            </a:extLst>
          </p:cNvPr>
          <p:cNvSpPr/>
          <p:nvPr/>
        </p:nvSpPr>
        <p:spPr>
          <a:xfrm>
            <a:off x="6339535" y="3566160"/>
            <a:ext cx="822960" cy="9144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rPr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C69C373-9E95-2DD6-6C97-90F21AAE9F3B}"/>
              </a:ext>
            </a:extLst>
          </p:cNvPr>
          <p:cNvSpPr txBox="1"/>
          <p:nvPr/>
        </p:nvSpPr>
        <p:spPr>
          <a:xfrm>
            <a:off x="7345375" y="37033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Dashboard 1: Executive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High-level performance &amp; revenue metrics</a:t>
            </a:r>
          </a:p>
        </p:txBody>
      </p:sp>
      <p:sp>
        <p:nvSpPr>
          <p:cNvPr id="127" name="Rounded Rectangle 20">
            <a:extLst>
              <a:ext uri="{FF2B5EF4-FFF2-40B4-BE49-F238E27FC236}">
                <a16:creationId xmlns:a16="http://schemas.microsoft.com/office/drawing/2014/main" id="{27CB2B0E-8781-3BEE-356C-A4ACE5C2B783}"/>
              </a:ext>
            </a:extLst>
          </p:cNvPr>
          <p:cNvSpPr/>
          <p:nvPr/>
        </p:nvSpPr>
        <p:spPr>
          <a:xfrm>
            <a:off x="731520" y="4663440"/>
            <a:ext cx="5120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435F532-9B44-CF54-2656-3B8A2D43F6DF}"/>
              </a:ext>
            </a:extLst>
          </p:cNvPr>
          <p:cNvSpPr/>
          <p:nvPr/>
        </p:nvSpPr>
        <p:spPr>
          <a:xfrm>
            <a:off x="731520" y="4663440"/>
            <a:ext cx="822960" cy="9144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rPr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E857BCC-AE3D-A29D-40DD-CEEFC16A793A}"/>
              </a:ext>
            </a:extLst>
          </p:cNvPr>
          <p:cNvSpPr txBox="1"/>
          <p:nvPr/>
        </p:nvSpPr>
        <p:spPr>
          <a:xfrm>
            <a:off x="1737360" y="480060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Dashboard 2: Menu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Product popularity &amp; menu insights</a:t>
            </a:r>
          </a:p>
        </p:txBody>
      </p:sp>
      <p:sp>
        <p:nvSpPr>
          <p:cNvPr id="130" name="Rounded Rectangle 23">
            <a:extLst>
              <a:ext uri="{FF2B5EF4-FFF2-40B4-BE49-F238E27FC236}">
                <a16:creationId xmlns:a16="http://schemas.microsoft.com/office/drawing/2014/main" id="{F1B2606D-4AAA-53B6-F7AE-BA0F463AEDAE}"/>
              </a:ext>
            </a:extLst>
          </p:cNvPr>
          <p:cNvSpPr/>
          <p:nvPr/>
        </p:nvSpPr>
        <p:spPr>
          <a:xfrm>
            <a:off x="6339535" y="4663440"/>
            <a:ext cx="5120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2CCB29F-5BCC-042C-1410-70EE55F9248A}"/>
              </a:ext>
            </a:extLst>
          </p:cNvPr>
          <p:cNvSpPr/>
          <p:nvPr/>
        </p:nvSpPr>
        <p:spPr>
          <a:xfrm>
            <a:off x="6339535" y="4663440"/>
            <a:ext cx="822960" cy="9144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rPr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6D83919-D3DF-03B9-59C4-EF4B6C493B03}"/>
              </a:ext>
            </a:extLst>
          </p:cNvPr>
          <p:cNvSpPr txBox="1"/>
          <p:nvPr/>
        </p:nvSpPr>
        <p:spPr>
          <a:xfrm>
            <a:off x="7345375" y="480060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Dashboard 3: Operations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Branch &amp; waiter performance analytics</a:t>
            </a:r>
          </a:p>
        </p:txBody>
      </p:sp>
      <p:sp>
        <p:nvSpPr>
          <p:cNvPr id="133" name="Rounded Rectangle 26">
            <a:extLst>
              <a:ext uri="{FF2B5EF4-FFF2-40B4-BE49-F238E27FC236}">
                <a16:creationId xmlns:a16="http://schemas.microsoft.com/office/drawing/2014/main" id="{E059C1FB-1A48-BD67-EEED-56DF39C07D70}"/>
              </a:ext>
            </a:extLst>
          </p:cNvPr>
          <p:cNvSpPr/>
          <p:nvPr/>
        </p:nvSpPr>
        <p:spPr>
          <a:xfrm>
            <a:off x="731520" y="5760720"/>
            <a:ext cx="5120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F702066-001E-844E-9B6D-B1D011654209}"/>
              </a:ext>
            </a:extLst>
          </p:cNvPr>
          <p:cNvSpPr/>
          <p:nvPr/>
        </p:nvSpPr>
        <p:spPr>
          <a:xfrm>
            <a:off x="731520" y="5760720"/>
            <a:ext cx="822960" cy="9144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rPr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A48984B-6A51-0F16-77EC-2E1EEF7D9D0E}"/>
              </a:ext>
            </a:extLst>
          </p:cNvPr>
          <p:cNvSpPr txBox="1"/>
          <p:nvPr/>
        </p:nvSpPr>
        <p:spPr>
          <a:xfrm>
            <a:off x="1737360" y="58978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Business Insights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Actionable operational recommendations</a:t>
            </a:r>
          </a:p>
        </p:txBody>
      </p:sp>
      <p:sp>
        <p:nvSpPr>
          <p:cNvPr id="136" name="Rounded Rectangle 29">
            <a:extLst>
              <a:ext uri="{FF2B5EF4-FFF2-40B4-BE49-F238E27FC236}">
                <a16:creationId xmlns:a16="http://schemas.microsoft.com/office/drawing/2014/main" id="{E21C9FF4-FEBF-3528-F754-51B99FC8D27C}"/>
              </a:ext>
            </a:extLst>
          </p:cNvPr>
          <p:cNvSpPr/>
          <p:nvPr/>
        </p:nvSpPr>
        <p:spPr>
          <a:xfrm>
            <a:off x="6339535" y="5760720"/>
            <a:ext cx="5120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A881A01-09A2-AF04-A4BF-24871911F3A3}"/>
              </a:ext>
            </a:extLst>
          </p:cNvPr>
          <p:cNvSpPr/>
          <p:nvPr/>
        </p:nvSpPr>
        <p:spPr>
          <a:xfrm>
            <a:off x="6339535" y="5760720"/>
            <a:ext cx="822960" cy="9144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rPr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A2406CC-CE3A-189F-0538-464ACA262AAC}"/>
              </a:ext>
            </a:extLst>
          </p:cNvPr>
          <p:cNvSpPr txBox="1"/>
          <p:nvPr/>
        </p:nvSpPr>
        <p:spPr>
          <a:xfrm>
            <a:off x="7345375" y="58978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Final Deliverables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Project assets and repository links</a:t>
            </a:r>
          </a:p>
        </p:txBody>
      </p:sp>
    </p:spTree>
    <p:extLst>
      <p:ext uri="{BB962C8B-B14F-4D97-AF65-F5344CB8AC3E}">
        <p14:creationId xmlns:p14="http://schemas.microsoft.com/office/powerpoint/2010/main" val="90839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5D23F-904D-A9F1-84EF-007C1BC65F6B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dirty="0"/>
              <a:t>End-to-End Data Analytics Workflow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E2268D1-6F3C-DF4E-9BB5-DD1AA8389F30}"/>
              </a:ext>
            </a:extLst>
          </p:cNvPr>
          <p:cNvSpPr/>
          <p:nvPr/>
        </p:nvSpPr>
        <p:spPr>
          <a:xfrm>
            <a:off x="731520" y="1463040"/>
            <a:ext cx="1389888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AC443-20FD-57D2-9222-D46E9A2D9E00}"/>
              </a:ext>
            </a:extLst>
          </p:cNvPr>
          <p:cNvSpPr/>
          <p:nvPr/>
        </p:nvSpPr>
        <p:spPr>
          <a:xfrm>
            <a:off x="731520" y="1463040"/>
            <a:ext cx="1389888" cy="7315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FF73E-F31F-D352-6E7F-46DA3D9476BB}"/>
              </a:ext>
            </a:extLst>
          </p:cNvPr>
          <p:cNvSpPr txBox="1"/>
          <p:nvPr/>
        </p:nvSpPr>
        <p:spPr>
          <a:xfrm>
            <a:off x="822960" y="2286000"/>
            <a:ext cx="12070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E36"/>
                </a:solidFill>
              </a:defRPr>
            </a:pPr>
            <a:r>
              <a:t>1. Data Collection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Ingesting raw transactional order records.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CE72662-6A67-1F2D-A87B-900DB0CCF0F4}"/>
              </a:ext>
            </a:extLst>
          </p:cNvPr>
          <p:cNvSpPr/>
          <p:nvPr/>
        </p:nvSpPr>
        <p:spPr>
          <a:xfrm>
            <a:off x="2286000" y="1463040"/>
            <a:ext cx="1389888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A10EB-5A69-FA40-BBB1-0A11A737191E}"/>
              </a:ext>
            </a:extLst>
          </p:cNvPr>
          <p:cNvSpPr/>
          <p:nvPr/>
        </p:nvSpPr>
        <p:spPr>
          <a:xfrm>
            <a:off x="2286000" y="1463040"/>
            <a:ext cx="1389888" cy="7315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8D0FE-BB4B-3F02-1A76-013138B9C2C9}"/>
              </a:ext>
            </a:extLst>
          </p:cNvPr>
          <p:cNvSpPr txBox="1"/>
          <p:nvPr/>
        </p:nvSpPr>
        <p:spPr>
          <a:xfrm>
            <a:off x="2377440" y="2286000"/>
            <a:ext cx="12070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E36"/>
                </a:solidFill>
              </a:defRPr>
            </a:pPr>
            <a:r>
              <a:t>2. Data Cleaning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Handling missing values, duplicate records, &amp; data types.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8291E68-1529-2F69-F542-866BDCAF9B08}"/>
              </a:ext>
            </a:extLst>
          </p:cNvPr>
          <p:cNvSpPr/>
          <p:nvPr/>
        </p:nvSpPr>
        <p:spPr>
          <a:xfrm>
            <a:off x="3840480" y="1463040"/>
            <a:ext cx="1389888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96114D-3F51-9947-4DFB-A905B725B11D}"/>
              </a:ext>
            </a:extLst>
          </p:cNvPr>
          <p:cNvSpPr/>
          <p:nvPr/>
        </p:nvSpPr>
        <p:spPr>
          <a:xfrm>
            <a:off x="3840480" y="1463040"/>
            <a:ext cx="1389888" cy="7315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0631F-6572-4826-9427-F71500A0C5BE}"/>
              </a:ext>
            </a:extLst>
          </p:cNvPr>
          <p:cNvSpPr txBox="1"/>
          <p:nvPr/>
        </p:nvSpPr>
        <p:spPr>
          <a:xfrm>
            <a:off x="3931920" y="2286000"/>
            <a:ext cx="12070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E36"/>
                </a:solidFill>
              </a:defRPr>
            </a:pPr>
            <a:r>
              <a:t>3. Feature Engineering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Creating Gross Sales, Discount, and Order Time metrics.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07184A8-7DF2-BF32-E9AD-0C171D179806}"/>
              </a:ext>
            </a:extLst>
          </p:cNvPr>
          <p:cNvSpPr/>
          <p:nvPr/>
        </p:nvSpPr>
        <p:spPr>
          <a:xfrm>
            <a:off x="5394960" y="1463040"/>
            <a:ext cx="1389888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8860B1-48EB-0B47-420C-F3C82DB3B4B1}"/>
              </a:ext>
            </a:extLst>
          </p:cNvPr>
          <p:cNvSpPr/>
          <p:nvPr/>
        </p:nvSpPr>
        <p:spPr>
          <a:xfrm>
            <a:off x="5394960" y="1463040"/>
            <a:ext cx="1389888" cy="7315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02C5D-A5C1-B57F-4007-490FBC99D6F1}"/>
              </a:ext>
            </a:extLst>
          </p:cNvPr>
          <p:cNvSpPr txBox="1"/>
          <p:nvPr/>
        </p:nvSpPr>
        <p:spPr>
          <a:xfrm>
            <a:off x="5486400" y="2286000"/>
            <a:ext cx="1207008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E36"/>
                </a:solidFill>
              </a:defRPr>
            </a:pPr>
            <a:r>
              <a:rPr dirty="0"/>
              <a:t>4. Schema Design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rPr dirty="0"/>
              <a:t>Modeling Fact and Dimension tables for DW.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50EF1E1-46C3-5DD2-B768-6283345D7163}"/>
              </a:ext>
            </a:extLst>
          </p:cNvPr>
          <p:cNvSpPr/>
          <p:nvPr/>
        </p:nvSpPr>
        <p:spPr>
          <a:xfrm>
            <a:off x="6949440" y="1463040"/>
            <a:ext cx="1389888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928F7D-EA28-635B-A848-44E8D7417201}"/>
              </a:ext>
            </a:extLst>
          </p:cNvPr>
          <p:cNvSpPr/>
          <p:nvPr/>
        </p:nvSpPr>
        <p:spPr>
          <a:xfrm>
            <a:off x="6949440" y="1463040"/>
            <a:ext cx="1389888" cy="7315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A7B1BC-7554-295F-5303-3F110AD05A6D}"/>
              </a:ext>
            </a:extLst>
          </p:cNvPr>
          <p:cNvSpPr txBox="1"/>
          <p:nvPr/>
        </p:nvSpPr>
        <p:spPr>
          <a:xfrm>
            <a:off x="7040880" y="2286000"/>
            <a:ext cx="12070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E36"/>
                </a:solidFill>
              </a:defRPr>
            </a:pPr>
            <a:r>
              <a:t>5. SQL Analysis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Querying key metrics and business logic in SQL Server.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95A1508-EACC-64AE-FD50-CEC4C2F8B470}"/>
              </a:ext>
            </a:extLst>
          </p:cNvPr>
          <p:cNvSpPr/>
          <p:nvPr/>
        </p:nvSpPr>
        <p:spPr>
          <a:xfrm>
            <a:off x="8503920" y="1463040"/>
            <a:ext cx="1389888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66B11D-8AE0-A3C6-852D-6DE7587DBD5D}"/>
              </a:ext>
            </a:extLst>
          </p:cNvPr>
          <p:cNvSpPr/>
          <p:nvPr/>
        </p:nvSpPr>
        <p:spPr>
          <a:xfrm>
            <a:off x="8503920" y="1463040"/>
            <a:ext cx="1389888" cy="7315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AAC4F4-B629-DB4A-B5FD-C46DB7929FBC}"/>
              </a:ext>
            </a:extLst>
          </p:cNvPr>
          <p:cNvSpPr txBox="1"/>
          <p:nvPr/>
        </p:nvSpPr>
        <p:spPr>
          <a:xfrm>
            <a:off x="8595360" y="2286000"/>
            <a:ext cx="12070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E36"/>
                </a:solidFill>
              </a:defRPr>
            </a:pPr>
            <a:r>
              <a:t>6. Power BI Dashboards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Building interactive executive report dashboards.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EF50F97-D29F-6727-12AA-9A4DB81765B1}"/>
              </a:ext>
            </a:extLst>
          </p:cNvPr>
          <p:cNvSpPr/>
          <p:nvPr/>
        </p:nvSpPr>
        <p:spPr>
          <a:xfrm>
            <a:off x="10058400" y="1463040"/>
            <a:ext cx="1389888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43AFFF-6058-E4CB-1C28-D93551F82173}"/>
              </a:ext>
            </a:extLst>
          </p:cNvPr>
          <p:cNvSpPr/>
          <p:nvPr/>
        </p:nvSpPr>
        <p:spPr>
          <a:xfrm>
            <a:off x="10058400" y="1463040"/>
            <a:ext cx="1389888" cy="7315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07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01810B-BDA8-C90A-59F2-B0A728D0C454}"/>
              </a:ext>
            </a:extLst>
          </p:cNvPr>
          <p:cNvSpPr txBox="1"/>
          <p:nvPr/>
        </p:nvSpPr>
        <p:spPr>
          <a:xfrm>
            <a:off x="10149840" y="2286000"/>
            <a:ext cx="120700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1E36"/>
                </a:solidFill>
              </a:defRPr>
            </a:pPr>
            <a:r>
              <a:t>7. Business Insights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Translating analytics into strategic decisions.</a:t>
            </a:r>
          </a:p>
        </p:txBody>
      </p:sp>
    </p:spTree>
    <p:extLst>
      <p:ext uri="{BB962C8B-B14F-4D97-AF65-F5344CB8AC3E}">
        <p14:creationId xmlns:p14="http://schemas.microsoft.com/office/powerpoint/2010/main" val="1900590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A364550-BEAC-6184-67DD-BE2B8CE25991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dirty="0"/>
              <a:t>Dataset Architecture &amp; Metadata</a:t>
            </a:r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A67AE210-DB6B-0E82-A3A5-04FADE519494}"/>
              </a:ext>
            </a:extLst>
          </p:cNvPr>
          <p:cNvSpPr/>
          <p:nvPr/>
        </p:nvSpPr>
        <p:spPr>
          <a:xfrm>
            <a:off x="731520" y="137160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84D669-7CF8-A9C3-3318-884BE56DB400}"/>
              </a:ext>
            </a:extLst>
          </p:cNvPr>
          <p:cNvSpPr/>
          <p:nvPr/>
        </p:nvSpPr>
        <p:spPr>
          <a:xfrm>
            <a:off x="731520" y="1371600"/>
            <a:ext cx="2468880" cy="73152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D87442-7E63-ADDA-2BBC-2F2019CB0DB2}"/>
              </a:ext>
            </a:extLst>
          </p:cNvPr>
          <p:cNvSpPr txBox="1"/>
          <p:nvPr/>
        </p:nvSpPr>
        <p:spPr>
          <a:xfrm>
            <a:off x="914400" y="1554480"/>
            <a:ext cx="2103120" cy="6848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E36"/>
                </a:solidFill>
                <a:latin typeface="Calibri"/>
              </a:defRPr>
            </a:pPr>
            <a:r>
              <a:rPr dirty="0"/>
              <a:t>19,009</a:t>
            </a:r>
          </a:p>
          <a:p>
            <a:pPr>
              <a:defRPr sz="1100" b="1">
                <a:solidFill>
                  <a:srgbClr val="6C757D"/>
                </a:solidFill>
                <a:latin typeface="Calibri"/>
              </a:defRPr>
            </a:pPr>
            <a:r>
              <a:rPr dirty="0"/>
              <a:t>Total Orders Analyzed</a:t>
            </a:r>
          </a:p>
          <a:p>
            <a:pPr>
              <a:defRPr sz="950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Unique Order IDs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93164E03-634D-A0C4-58C6-84D7F0EDBD34}"/>
              </a:ext>
            </a:extLst>
          </p:cNvPr>
          <p:cNvSpPr/>
          <p:nvPr/>
        </p:nvSpPr>
        <p:spPr>
          <a:xfrm>
            <a:off x="3474720" y="137160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DF6BB2-B39B-F212-F6F4-CF07736C41B6}"/>
              </a:ext>
            </a:extLst>
          </p:cNvPr>
          <p:cNvSpPr/>
          <p:nvPr/>
        </p:nvSpPr>
        <p:spPr>
          <a:xfrm>
            <a:off x="3474720" y="1371600"/>
            <a:ext cx="2468880" cy="73152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01355C-E327-B7D7-5ECF-C415A8C3F123}"/>
              </a:ext>
            </a:extLst>
          </p:cNvPr>
          <p:cNvSpPr txBox="1"/>
          <p:nvPr/>
        </p:nvSpPr>
        <p:spPr>
          <a:xfrm>
            <a:off x="3657600" y="1554480"/>
            <a:ext cx="2103120" cy="6848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E36"/>
                </a:solidFill>
                <a:latin typeface="Calibri"/>
              </a:defRPr>
            </a:pPr>
            <a:r>
              <a:rPr dirty="0"/>
              <a:t>20</a:t>
            </a:r>
          </a:p>
          <a:p>
            <a:pPr>
              <a:defRPr sz="1100" b="1">
                <a:solidFill>
                  <a:srgbClr val="6C757D"/>
                </a:solidFill>
                <a:latin typeface="Calibri"/>
              </a:defRPr>
            </a:pPr>
            <a:r>
              <a:rPr dirty="0"/>
              <a:t>Total Columns</a:t>
            </a:r>
          </a:p>
          <a:p>
            <a:pPr>
              <a:defRPr sz="950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14 Cat / 6 Num</a:t>
            </a:r>
          </a:p>
        </p:txBody>
      </p:sp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CDE32A71-D56A-B0C2-6833-A4190D9D432B}"/>
              </a:ext>
            </a:extLst>
          </p:cNvPr>
          <p:cNvSpPr/>
          <p:nvPr/>
        </p:nvSpPr>
        <p:spPr>
          <a:xfrm>
            <a:off x="6217920" y="137160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BD2EF3-7A48-4568-A979-5311931C308B}"/>
              </a:ext>
            </a:extLst>
          </p:cNvPr>
          <p:cNvSpPr/>
          <p:nvPr/>
        </p:nvSpPr>
        <p:spPr>
          <a:xfrm>
            <a:off x="6217920" y="1371600"/>
            <a:ext cx="2468880" cy="73152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FD64AE-E53E-8169-D002-660C281A55A4}"/>
              </a:ext>
            </a:extLst>
          </p:cNvPr>
          <p:cNvSpPr txBox="1"/>
          <p:nvPr/>
        </p:nvSpPr>
        <p:spPr>
          <a:xfrm>
            <a:off x="6400800" y="1554480"/>
            <a:ext cx="2103120" cy="6848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E36"/>
                </a:solidFill>
                <a:latin typeface="Calibri"/>
              </a:defRPr>
            </a:pPr>
            <a:r>
              <a:rPr dirty="0"/>
              <a:t>5.86M</a:t>
            </a:r>
          </a:p>
          <a:p>
            <a:pPr>
              <a:defRPr sz="1100" b="1">
                <a:solidFill>
                  <a:srgbClr val="6C757D"/>
                </a:solidFill>
                <a:latin typeface="Calibri"/>
              </a:defRPr>
            </a:pPr>
            <a:r>
              <a:rPr dirty="0"/>
              <a:t>Total Revenue Generated</a:t>
            </a:r>
          </a:p>
          <a:p>
            <a:pPr>
              <a:defRPr sz="950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EGP Gross Sales</a:t>
            </a:r>
          </a:p>
        </p:txBody>
      </p:sp>
      <p:sp>
        <p:nvSpPr>
          <p:cNvPr id="34" name="Rounded Rectangle 11">
            <a:extLst>
              <a:ext uri="{FF2B5EF4-FFF2-40B4-BE49-F238E27FC236}">
                <a16:creationId xmlns:a16="http://schemas.microsoft.com/office/drawing/2014/main" id="{4817C7A0-37E7-FAB4-9B13-9DA46F879D5B}"/>
              </a:ext>
            </a:extLst>
          </p:cNvPr>
          <p:cNvSpPr/>
          <p:nvPr/>
        </p:nvSpPr>
        <p:spPr>
          <a:xfrm>
            <a:off x="8961120" y="137160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902E8A-F66A-52B4-56AE-293F001329F2}"/>
              </a:ext>
            </a:extLst>
          </p:cNvPr>
          <p:cNvSpPr/>
          <p:nvPr/>
        </p:nvSpPr>
        <p:spPr>
          <a:xfrm>
            <a:off x="8961120" y="1371600"/>
            <a:ext cx="2468880" cy="73152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BE5BB2-2CEB-1DBF-CB13-4478E3F1CE65}"/>
              </a:ext>
            </a:extLst>
          </p:cNvPr>
          <p:cNvSpPr txBox="1"/>
          <p:nvPr/>
        </p:nvSpPr>
        <p:spPr>
          <a:xfrm>
            <a:off x="9144000" y="1554480"/>
            <a:ext cx="2103120" cy="6848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E36"/>
                </a:solidFill>
                <a:latin typeface="Calibri"/>
              </a:defRPr>
            </a:pPr>
            <a:r>
              <a:rPr dirty="0"/>
              <a:t>4</a:t>
            </a:r>
          </a:p>
          <a:p>
            <a:pPr>
              <a:defRPr sz="1100" b="1">
                <a:solidFill>
                  <a:srgbClr val="6C757D"/>
                </a:solidFill>
                <a:latin typeface="Calibri"/>
              </a:defRPr>
            </a:pPr>
            <a:r>
              <a:rPr dirty="0"/>
              <a:t>Operational Branches</a:t>
            </a:r>
          </a:p>
          <a:p>
            <a:pPr>
              <a:defRPr sz="950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Multi-location scope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DA215E2-3873-3A02-3DCF-FE66EC2BB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256739"/>
              </p:ext>
            </p:extLst>
          </p:nvPr>
        </p:nvGraphicFramePr>
        <p:xfrm>
          <a:off x="731520" y="2651760"/>
          <a:ext cx="10728655" cy="3657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5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Domain /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Description &amp;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Sample Values /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rPr dirty="0"/>
                        <a:t>Orders &amp;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Order ID, Date, Day Name, Month, Order Time, 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ORD19639 | 2025-01-01 | Dinner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Branch &amp; 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Restaurant Branch location and assigned Waiter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Downtown, Mall Branch | Omar Ali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Customer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Customer classification (New vs Returning) &amp; Fulfillment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New / Returning | Dine In, Delivery, Takeaway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Product &amp;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Menu Category item name and ordered 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Pizza, Burger, Desserts | Veggie Pizza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rPr dirty="0"/>
                        <a:t>Financials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Unit Price, Discount, Total Sales, Payment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190 EGP | 0 Discount | Credit Card, Cash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Preparation Time in minutes and Order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26 Mins | Completed, Cancelled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Quality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Customer Rating (1 to 5 scale)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3.0 / 5.0 Average 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Missing Data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Customer Ratings missing on Cancelled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Valid business logic handled in ETL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Data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rPr dirty="0"/>
                        <a:t>14 Categorical String columns, 6 Numeric/Float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rPr dirty="0"/>
                        <a:t>Converted to SQL Server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36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A364550-BEAC-6184-67DD-BE2B8CE25991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lang="en-US" dirty="0"/>
              <a:t>Business Problem</a:t>
            </a:r>
            <a:endParaRPr dirty="0"/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9CB69C86-DBDD-AB4A-6E58-FF63C24C91E7}"/>
              </a:ext>
            </a:extLst>
          </p:cNvPr>
          <p:cNvSpPr/>
          <p:nvPr/>
        </p:nvSpPr>
        <p:spPr>
          <a:xfrm>
            <a:off x="563155" y="1371600"/>
            <a:ext cx="7100388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A1F2B"/>
                </a:solidFill>
              </a:rPr>
              <a:t>Restaurant management collects a large amount of operational and sales data every day. However, raw transactional data alone cannot support effective decision-making.</a:t>
            </a:r>
            <a:endParaRPr lang="ar-EG" dirty="0">
              <a:solidFill>
                <a:srgbClr val="7A1F2B"/>
              </a:solidFill>
            </a:endParaRPr>
          </a:p>
          <a:p>
            <a:endParaRPr lang="en-US" dirty="0">
              <a:solidFill>
                <a:srgbClr val="7A1F2B"/>
              </a:solidFill>
            </a:endParaRPr>
          </a:p>
          <a:p>
            <a:r>
              <a:rPr lang="en-US" dirty="0">
                <a:solidFill>
                  <a:srgbClr val="7A1F2B"/>
                </a:solidFill>
              </a:rPr>
              <a:t>This project addresses that challenge by transforming raw data into interactive dashboards that help management monitor performance, identify trends, evaluate products, analyze customer behavior, and improve operational efficiency.</a:t>
            </a:r>
          </a:p>
          <a:p>
            <a:pPr algn="ctr"/>
            <a:endParaRPr dirty="0">
              <a:solidFill>
                <a:srgbClr val="7A1F2B"/>
              </a:solidFill>
            </a:endParaRPr>
          </a:p>
        </p:txBody>
      </p:sp>
      <p:pic>
        <p:nvPicPr>
          <p:cNvPr id="3" name="Image 0" descr="/home/claude/assets/logo.png">
            <a:extLst>
              <a:ext uri="{FF2B5EF4-FFF2-40B4-BE49-F238E27FC236}">
                <a16:creationId xmlns:a16="http://schemas.microsoft.com/office/drawing/2014/main" id="{0B254C86-F6E1-7B88-8D2F-0F7F820CA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271" y="1709928"/>
            <a:ext cx="1005840" cy="100584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C3D7E1A-F600-D64F-659F-EC845C8D02AD}"/>
              </a:ext>
            </a:extLst>
          </p:cNvPr>
          <p:cNvSpPr/>
          <p:nvPr/>
        </p:nvSpPr>
        <p:spPr>
          <a:xfrm>
            <a:off x="3904343" y="2788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 O R N O   &amp;   V I N E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6CE5899-A466-E9D5-158C-E3D24434749A}"/>
              </a:ext>
            </a:extLst>
          </p:cNvPr>
          <p:cNvSpPr/>
          <p:nvPr/>
        </p:nvSpPr>
        <p:spPr>
          <a:xfrm>
            <a:off x="8135257" y="3069772"/>
            <a:ext cx="395514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400" b="1" dirty="0">
                <a:solidFill>
                  <a:srgbClr val="7A1F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Restaurant Sales</a:t>
            </a:r>
            <a:endParaRPr lang="en-US" sz="2400" dirty="0">
              <a:solidFill>
                <a:srgbClr val="7A1F2B"/>
              </a:solidFill>
            </a:endParaRPr>
          </a:p>
          <a:p>
            <a:pPr marL="0" indent="0" algn="ctr">
              <a:lnSpc>
                <a:spcPts val="4200"/>
              </a:lnSpc>
              <a:buNone/>
            </a:pPr>
            <a:r>
              <a:rPr lang="en-US" sz="2400" b="1" dirty="0">
                <a:solidFill>
                  <a:srgbClr val="7A1F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Analytics Dashboard</a:t>
            </a:r>
            <a:endParaRPr lang="en-US" sz="2400" dirty="0">
              <a:solidFill>
                <a:srgbClr val="7A1F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188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E8EB8C-2783-D255-0299-A714B6486F1E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dirty="0"/>
              <a:t>Python ETL &amp; Data Processing Pipeline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3EAB924-7EAD-AD58-1755-1CB2EAF5312E}"/>
              </a:ext>
            </a:extLst>
          </p:cNvPr>
          <p:cNvSpPr/>
          <p:nvPr/>
        </p:nvSpPr>
        <p:spPr>
          <a:xfrm>
            <a:off x="731520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ED424F-CBAA-90D6-E489-199B39AF0DE4}"/>
              </a:ext>
            </a:extLst>
          </p:cNvPr>
          <p:cNvSpPr/>
          <p:nvPr/>
        </p:nvSpPr>
        <p:spPr>
          <a:xfrm>
            <a:off x="731520" y="1463040"/>
            <a:ext cx="2011680" cy="64008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Ingestion &amp; Load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E3743-14BD-140D-D3C4-DD996EE6A4B6}"/>
              </a:ext>
            </a:extLst>
          </p:cNvPr>
          <p:cNvSpPr txBox="1"/>
          <p:nvPr/>
        </p:nvSpPr>
        <p:spPr>
          <a:xfrm>
            <a:off x="822960" y="219456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Read CSV raw data</a:t>
            </a:r>
          </a:p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Check initial dimensions</a:t>
            </a:r>
          </a:p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Inspect schema types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A98A424-E762-7770-DA16-6E1B17FFD093}"/>
              </a:ext>
            </a:extLst>
          </p:cNvPr>
          <p:cNvSpPr/>
          <p:nvPr/>
        </p:nvSpPr>
        <p:spPr>
          <a:xfrm>
            <a:off x="2907792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8CDB94-2DB4-F5CE-0901-C20EB1734E56}"/>
              </a:ext>
            </a:extLst>
          </p:cNvPr>
          <p:cNvSpPr/>
          <p:nvPr/>
        </p:nvSpPr>
        <p:spPr>
          <a:xfrm>
            <a:off x="2907792" y="1463040"/>
            <a:ext cx="2011680" cy="64008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Data Cleaning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30C269-15CA-171D-1933-3EB609A23970}"/>
              </a:ext>
            </a:extLst>
          </p:cNvPr>
          <p:cNvSpPr txBox="1"/>
          <p:nvPr/>
        </p:nvSpPr>
        <p:spPr>
          <a:xfrm>
            <a:off x="2999232" y="219456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Impute/Validate NAs</a:t>
            </a:r>
          </a:p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Remove duplicate rows</a:t>
            </a:r>
          </a:p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Standardize date/time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C1F604-A17E-BD8D-5792-C0CC51DE3E81}"/>
              </a:ext>
            </a:extLst>
          </p:cNvPr>
          <p:cNvSpPr/>
          <p:nvPr/>
        </p:nvSpPr>
        <p:spPr>
          <a:xfrm>
            <a:off x="5084064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B9C450-4513-2583-DAC9-7C999D663D65}"/>
              </a:ext>
            </a:extLst>
          </p:cNvPr>
          <p:cNvSpPr/>
          <p:nvPr/>
        </p:nvSpPr>
        <p:spPr>
          <a:xfrm>
            <a:off x="5084064" y="1463040"/>
            <a:ext cx="2011680" cy="64008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Feature Eng.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991B65-E0A5-E0F5-C080-ABFB1C08CFF8}"/>
              </a:ext>
            </a:extLst>
          </p:cNvPr>
          <p:cNvSpPr txBox="1"/>
          <p:nvPr/>
        </p:nvSpPr>
        <p:spPr>
          <a:xfrm>
            <a:off x="5175504" y="219456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Gross Sales metric</a:t>
            </a:r>
          </a:p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Discount amount</a:t>
            </a:r>
          </a:p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Avg item price logic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55A121F-9FAC-6EE1-C7A2-E216B8233BE3}"/>
              </a:ext>
            </a:extLst>
          </p:cNvPr>
          <p:cNvSpPr/>
          <p:nvPr/>
        </p:nvSpPr>
        <p:spPr>
          <a:xfrm>
            <a:off x="7260336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F41351-CF36-F37D-81B9-F2D5765897A6}"/>
              </a:ext>
            </a:extLst>
          </p:cNvPr>
          <p:cNvSpPr/>
          <p:nvPr/>
        </p:nvSpPr>
        <p:spPr>
          <a:xfrm>
            <a:off x="7260336" y="1463040"/>
            <a:ext cx="2011680" cy="6400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4. Schema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C0F36B-C553-06CE-FF71-E5330BC1E8AD}"/>
              </a:ext>
            </a:extLst>
          </p:cNvPr>
          <p:cNvSpPr txBox="1"/>
          <p:nvPr/>
        </p:nvSpPr>
        <p:spPr>
          <a:xfrm>
            <a:off x="7351776" y="219456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Generate Surrogate Keys</a:t>
            </a:r>
          </a:p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Build Dimension tables</a:t>
            </a:r>
          </a:p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Isolate Fact_Orders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C62711A-691E-E8F6-0270-F9C01AD2C6B7}"/>
              </a:ext>
            </a:extLst>
          </p:cNvPr>
          <p:cNvSpPr/>
          <p:nvPr/>
        </p:nvSpPr>
        <p:spPr>
          <a:xfrm>
            <a:off x="9436608" y="146304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F85905-1E80-2190-06B1-C67638515BA0}"/>
              </a:ext>
            </a:extLst>
          </p:cNvPr>
          <p:cNvSpPr/>
          <p:nvPr/>
        </p:nvSpPr>
        <p:spPr>
          <a:xfrm>
            <a:off x="9436608" y="1463040"/>
            <a:ext cx="2011680" cy="64008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Export &amp; Export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7303FD-BA76-E5D5-1202-A6E95199E66A}"/>
              </a:ext>
            </a:extLst>
          </p:cNvPr>
          <p:cNvSpPr txBox="1"/>
          <p:nvPr/>
        </p:nvSpPr>
        <p:spPr>
          <a:xfrm>
            <a:off x="9528048" y="2194560"/>
            <a:ext cx="1828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Export clean CSVs</a:t>
            </a:r>
          </a:p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Stage for SQL Server</a:t>
            </a:r>
          </a:p>
          <a:p>
            <a:pPr>
              <a:spcAft>
                <a:spcPts val="800"/>
              </a:spcAft>
              <a:defRPr sz="1000">
                <a:solidFill>
                  <a:srgbClr val="212529"/>
                </a:solidFill>
              </a:defRPr>
            </a:pPr>
            <a:r>
              <a:t>• Connect to Power BI</a:t>
            </a:r>
          </a:p>
        </p:txBody>
      </p:sp>
    </p:spTree>
    <p:extLst>
      <p:ext uri="{BB962C8B-B14F-4D97-AF65-F5344CB8AC3E}">
        <p14:creationId xmlns:p14="http://schemas.microsoft.com/office/powerpoint/2010/main" val="2934089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8E798636-2D19-2E12-43BE-E36624B47678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dirty="0"/>
              <a:t>Data Cleaning &amp; Feature Engineering Details</a:t>
            </a:r>
          </a:p>
        </p:txBody>
      </p:sp>
      <p:sp>
        <p:nvSpPr>
          <p:cNvPr id="38" name="Rounded Rectangle 2">
            <a:extLst>
              <a:ext uri="{FF2B5EF4-FFF2-40B4-BE49-F238E27FC236}">
                <a16:creationId xmlns:a16="http://schemas.microsoft.com/office/drawing/2014/main" id="{627AC8F2-FFF6-F5BF-B3D1-BB419C87DCC7}"/>
              </a:ext>
            </a:extLst>
          </p:cNvPr>
          <p:cNvSpPr/>
          <p:nvPr/>
        </p:nvSpPr>
        <p:spPr>
          <a:xfrm>
            <a:off x="731520" y="146304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457A0E-1801-7561-28A4-873A4594DCE4}"/>
              </a:ext>
            </a:extLst>
          </p:cNvPr>
          <p:cNvSpPr/>
          <p:nvPr/>
        </p:nvSpPr>
        <p:spPr>
          <a:xfrm>
            <a:off x="731520" y="1463040"/>
            <a:ext cx="109728" cy="201168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09A936-54F4-00B3-A5FB-75D3EAF9BA39}"/>
              </a:ext>
            </a:extLst>
          </p:cNvPr>
          <p:cNvSpPr txBox="1"/>
          <p:nvPr/>
        </p:nvSpPr>
        <p:spPr>
          <a:xfrm>
            <a:off x="960120" y="1645920"/>
            <a:ext cx="30083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E36"/>
                </a:solidFill>
              </a:defRPr>
            </a:pPr>
            <a:r>
              <a:t>Missing Values Handling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Customer_Rating missing values correspond directly to Cancelled orders. Retained business logic integrity without invalid mean imputation.</a:t>
            </a:r>
          </a:p>
        </p:txBody>
      </p:sp>
      <p:sp>
        <p:nvSpPr>
          <p:cNvPr id="41" name="Rounded Rectangle 5">
            <a:extLst>
              <a:ext uri="{FF2B5EF4-FFF2-40B4-BE49-F238E27FC236}">
                <a16:creationId xmlns:a16="http://schemas.microsoft.com/office/drawing/2014/main" id="{CCA603B7-32F7-8C6E-D3A9-A88532621EF3}"/>
              </a:ext>
            </a:extLst>
          </p:cNvPr>
          <p:cNvSpPr/>
          <p:nvPr/>
        </p:nvSpPr>
        <p:spPr>
          <a:xfrm>
            <a:off x="4425696" y="146304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F26DD8-4167-8513-AA1F-238D99E5DFC1}"/>
              </a:ext>
            </a:extLst>
          </p:cNvPr>
          <p:cNvSpPr/>
          <p:nvPr/>
        </p:nvSpPr>
        <p:spPr>
          <a:xfrm>
            <a:off x="4425696" y="1463040"/>
            <a:ext cx="109728" cy="201168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EE35A5-9F11-7C75-2B59-6E4222559E2C}"/>
              </a:ext>
            </a:extLst>
          </p:cNvPr>
          <p:cNvSpPr txBox="1"/>
          <p:nvPr/>
        </p:nvSpPr>
        <p:spPr>
          <a:xfrm>
            <a:off x="4654296" y="1645920"/>
            <a:ext cx="30083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E36"/>
                </a:solidFill>
              </a:defRPr>
            </a:pPr>
            <a:r>
              <a:t>Deduplication &amp; Types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Removed duplicate order records. Converted Order_Date to Datetime and Order_Time to standard 24-hour time formats.</a:t>
            </a:r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290DFE82-B443-30E6-C7B6-442EA8B5DE39}"/>
              </a:ext>
            </a:extLst>
          </p:cNvPr>
          <p:cNvSpPr/>
          <p:nvPr/>
        </p:nvSpPr>
        <p:spPr>
          <a:xfrm>
            <a:off x="8119872" y="146304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73D62B8-98F4-9485-E268-515C9AB0F3FC}"/>
              </a:ext>
            </a:extLst>
          </p:cNvPr>
          <p:cNvSpPr/>
          <p:nvPr/>
        </p:nvSpPr>
        <p:spPr>
          <a:xfrm>
            <a:off x="8119872" y="1463040"/>
            <a:ext cx="109728" cy="201168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FC5745-B10B-784A-164E-34C56EC559F2}"/>
              </a:ext>
            </a:extLst>
          </p:cNvPr>
          <p:cNvSpPr txBox="1"/>
          <p:nvPr/>
        </p:nvSpPr>
        <p:spPr>
          <a:xfrm>
            <a:off x="8348472" y="1645920"/>
            <a:ext cx="30083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E36"/>
                </a:solidFill>
              </a:defRPr>
            </a:pPr>
            <a:r>
              <a:t>Validation Logic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Verified Quantity &gt; 0, Unit_Price &gt; 0, and Prep_Time &gt; 0. Validated Total_Sales calculation formula consistency across all rows.</a:t>
            </a:r>
          </a:p>
        </p:txBody>
      </p:sp>
      <p:sp>
        <p:nvSpPr>
          <p:cNvPr id="47" name="Rounded Rectangle 11">
            <a:extLst>
              <a:ext uri="{FF2B5EF4-FFF2-40B4-BE49-F238E27FC236}">
                <a16:creationId xmlns:a16="http://schemas.microsoft.com/office/drawing/2014/main" id="{999F2B6A-94F0-3B5B-FCC4-1730086FAA54}"/>
              </a:ext>
            </a:extLst>
          </p:cNvPr>
          <p:cNvSpPr/>
          <p:nvPr/>
        </p:nvSpPr>
        <p:spPr>
          <a:xfrm>
            <a:off x="731520" y="374904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C126ED-10BB-7FC5-0809-D654C17629FD}"/>
              </a:ext>
            </a:extLst>
          </p:cNvPr>
          <p:cNvSpPr/>
          <p:nvPr/>
        </p:nvSpPr>
        <p:spPr>
          <a:xfrm>
            <a:off x="731520" y="3749040"/>
            <a:ext cx="109728" cy="20116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B4AD09-2ECE-B069-0DDE-C2B2BF0FBB0A}"/>
              </a:ext>
            </a:extLst>
          </p:cNvPr>
          <p:cNvSpPr txBox="1"/>
          <p:nvPr/>
        </p:nvSpPr>
        <p:spPr>
          <a:xfrm>
            <a:off x="960120" y="3931920"/>
            <a:ext cx="30083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E36"/>
                </a:solidFill>
              </a:defRPr>
            </a:pPr>
            <a:r>
              <a:t>Gross Sales Engineering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Created Gross_Sales = Quantity × Unit_Price to analyze top-line revenue before any promotional discounts were applied.</a:t>
            </a:r>
          </a:p>
        </p:txBody>
      </p:sp>
      <p:sp>
        <p:nvSpPr>
          <p:cNvPr id="50" name="Rounded Rectangle 14">
            <a:extLst>
              <a:ext uri="{FF2B5EF4-FFF2-40B4-BE49-F238E27FC236}">
                <a16:creationId xmlns:a16="http://schemas.microsoft.com/office/drawing/2014/main" id="{AA8FE074-F1B8-FE4E-9DB2-E7582470BBAE}"/>
              </a:ext>
            </a:extLst>
          </p:cNvPr>
          <p:cNvSpPr/>
          <p:nvPr/>
        </p:nvSpPr>
        <p:spPr>
          <a:xfrm>
            <a:off x="4425696" y="374904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25BC562-1190-CEF7-74C8-989E7D49723A}"/>
              </a:ext>
            </a:extLst>
          </p:cNvPr>
          <p:cNvSpPr/>
          <p:nvPr/>
        </p:nvSpPr>
        <p:spPr>
          <a:xfrm>
            <a:off x="4425696" y="3749040"/>
            <a:ext cx="109728" cy="20116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924039-029C-E13B-17F8-5B30E2F66BB6}"/>
              </a:ext>
            </a:extLst>
          </p:cNvPr>
          <p:cNvSpPr txBox="1"/>
          <p:nvPr/>
        </p:nvSpPr>
        <p:spPr>
          <a:xfrm>
            <a:off x="4654296" y="3931920"/>
            <a:ext cx="30083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E36"/>
                </a:solidFill>
              </a:defRPr>
            </a:pPr>
            <a:r>
              <a:t>Discount Amount Metric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Engineered Discount_Amount = Gross_Sales - Total_Sales to measure dollar-value impact of restaurant promotions.</a:t>
            </a:r>
          </a:p>
        </p:txBody>
      </p:sp>
      <p:sp>
        <p:nvSpPr>
          <p:cNvPr id="53" name="Rounded Rectangle 17">
            <a:extLst>
              <a:ext uri="{FF2B5EF4-FFF2-40B4-BE49-F238E27FC236}">
                <a16:creationId xmlns:a16="http://schemas.microsoft.com/office/drawing/2014/main" id="{2C43F7A3-5B8B-CAF7-C3A7-E242F0F6AF84}"/>
              </a:ext>
            </a:extLst>
          </p:cNvPr>
          <p:cNvSpPr/>
          <p:nvPr/>
        </p:nvSpPr>
        <p:spPr>
          <a:xfrm>
            <a:off x="8119872" y="3749040"/>
            <a:ext cx="3328416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6A46B53-82E7-93BF-5608-8A371FF16814}"/>
              </a:ext>
            </a:extLst>
          </p:cNvPr>
          <p:cNvSpPr/>
          <p:nvPr/>
        </p:nvSpPr>
        <p:spPr>
          <a:xfrm>
            <a:off x="8119872" y="3749040"/>
            <a:ext cx="109728" cy="20116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F03964-B79D-3521-D78A-8B4E0BCB69E3}"/>
              </a:ext>
            </a:extLst>
          </p:cNvPr>
          <p:cNvSpPr txBox="1"/>
          <p:nvPr/>
        </p:nvSpPr>
        <p:spPr>
          <a:xfrm>
            <a:off x="8348472" y="3931920"/>
            <a:ext cx="30083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E36"/>
                </a:solidFill>
              </a:defRPr>
            </a:pPr>
            <a:r>
              <a:t>Derived Metrics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Derived Average_Item_Price per order and extracted Order_Hour to enable peak operational period analysis.</a:t>
            </a:r>
          </a:p>
        </p:txBody>
      </p:sp>
    </p:spTree>
    <p:extLst>
      <p:ext uri="{BB962C8B-B14F-4D97-AF65-F5344CB8AC3E}">
        <p14:creationId xmlns:p14="http://schemas.microsoft.com/office/powerpoint/2010/main" val="368093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DF4D6-3608-56F2-2FE5-90307BC69D86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dirty="0"/>
              <a:t>Data Warehouse Schema Architecture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2C07028E-2A15-7954-8960-DFAFFAC865B8}"/>
              </a:ext>
            </a:extLst>
          </p:cNvPr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63ABA-5D18-125F-B44D-29BE6E3EB948}"/>
              </a:ext>
            </a:extLst>
          </p:cNvPr>
          <p:cNvSpPr txBox="1"/>
          <p:nvPr/>
        </p:nvSpPr>
        <p:spPr>
          <a:xfrm>
            <a:off x="4389120" y="178308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072CE"/>
                </a:solidFill>
              </a:defRPr>
            </a:pPr>
            <a:r>
              <a:t>Fact_Orders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Order_ID (PK)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Item_Key (FK)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Branch_Key (FK)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Waiter_Key (FK)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Order_Date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Order_Time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Quantity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Unit_Price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Discount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Total_Sales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Gross_Sales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Preparation_Time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Customer_Rating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t>Order_Status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A2C6CC6-E7A6-5883-7D1E-7E7057064E98}"/>
              </a:ext>
            </a:extLst>
          </p:cNvPr>
          <p:cNvSpPr/>
          <p:nvPr/>
        </p:nvSpPr>
        <p:spPr>
          <a:xfrm>
            <a:off x="731520" y="1645920"/>
            <a:ext cx="2926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28FF6F-0178-DAEB-65EE-F761DB0B61EA}"/>
              </a:ext>
            </a:extLst>
          </p:cNvPr>
          <p:cNvSpPr txBox="1"/>
          <p:nvPr/>
        </p:nvSpPr>
        <p:spPr>
          <a:xfrm>
            <a:off x="731520" y="1783080"/>
            <a:ext cx="2926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E36"/>
                </a:solidFill>
              </a:defRPr>
            </a:pPr>
            <a:r>
              <a:t>Dim_Item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Item_Key (PK)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Item_Name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Item_Category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Unit_Price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5FE28B75-C4BB-7361-3B56-9152EAF7AF51}"/>
              </a:ext>
            </a:extLst>
          </p:cNvPr>
          <p:cNvSpPr/>
          <p:nvPr/>
        </p:nvSpPr>
        <p:spPr>
          <a:xfrm>
            <a:off x="731520" y="4114800"/>
            <a:ext cx="2926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27917-9943-4EC2-754A-9E224ABBAE3E}"/>
              </a:ext>
            </a:extLst>
          </p:cNvPr>
          <p:cNvSpPr txBox="1"/>
          <p:nvPr/>
        </p:nvSpPr>
        <p:spPr>
          <a:xfrm>
            <a:off x="731520" y="4251960"/>
            <a:ext cx="2926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E36"/>
                </a:solidFill>
              </a:defRPr>
            </a:pPr>
            <a:r>
              <a:t>Dim_Branch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Branch_Key (PK)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Branch_Name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City / Location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85706019-AF05-6F53-F597-4079850C9D0A}"/>
              </a:ext>
            </a:extLst>
          </p:cNvPr>
          <p:cNvSpPr/>
          <p:nvPr/>
        </p:nvSpPr>
        <p:spPr>
          <a:xfrm>
            <a:off x="8534095" y="1645920"/>
            <a:ext cx="2926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B72F58-AC0B-E227-8003-1C281DB730D8}"/>
              </a:ext>
            </a:extLst>
          </p:cNvPr>
          <p:cNvSpPr txBox="1"/>
          <p:nvPr/>
        </p:nvSpPr>
        <p:spPr>
          <a:xfrm>
            <a:off x="8534095" y="1783080"/>
            <a:ext cx="29260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E36"/>
                </a:solidFill>
              </a:defRPr>
            </a:pPr>
            <a:r>
              <a:t>Dim_Waiter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Waiter_Key (PK)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Waiter_Name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Assigned Branch</a:t>
            </a: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C2BDE7D1-8589-9243-200B-C0BC781832C7}"/>
              </a:ext>
            </a:extLst>
          </p:cNvPr>
          <p:cNvSpPr/>
          <p:nvPr/>
        </p:nvSpPr>
        <p:spPr>
          <a:xfrm>
            <a:off x="8534095" y="4114800"/>
            <a:ext cx="2926080" cy="210312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F54B1E-2345-6B79-79AF-DA8FF8C5ECF5}"/>
              </a:ext>
            </a:extLst>
          </p:cNvPr>
          <p:cNvSpPr txBox="1"/>
          <p:nvPr/>
        </p:nvSpPr>
        <p:spPr>
          <a:xfrm>
            <a:off x="8625535" y="425196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E36"/>
                </a:solidFill>
              </a:defRPr>
            </a:pPr>
            <a:r>
              <a:t>Relationships</a:t>
            </a:r>
          </a:p>
          <a:p>
            <a:pPr>
              <a:defRPr sz="950">
                <a:solidFill>
                  <a:srgbClr val="0F1E36"/>
                </a:solidFill>
              </a:defRPr>
            </a:pPr>
            <a:r>
              <a:t>• Fact_Orders.Item_Key → Dim_Item</a:t>
            </a:r>
          </a:p>
          <a:p>
            <a:pPr>
              <a:defRPr sz="950">
                <a:solidFill>
                  <a:srgbClr val="0F1E36"/>
                </a:solidFill>
              </a:defRPr>
            </a:pPr>
            <a:r>
              <a:t>• Fact_Orders.Branch_Key → Dim_Branch</a:t>
            </a:r>
          </a:p>
          <a:p>
            <a:pPr>
              <a:defRPr sz="950">
                <a:solidFill>
                  <a:srgbClr val="0F1E36"/>
                </a:solidFill>
              </a:defRPr>
            </a:pPr>
            <a:r>
              <a:t>• Fact_Orders.Waiter_Key → Dim_Waiter</a:t>
            </a:r>
          </a:p>
          <a:p>
            <a:pPr>
              <a:defRPr sz="950">
                <a:solidFill>
                  <a:srgbClr val="0F1E36"/>
                </a:solidFill>
              </a:defRPr>
            </a:pPr>
            <a:r>
              <a:t>• 1-to-Many Referential Integrity</a:t>
            </a:r>
          </a:p>
        </p:txBody>
      </p:sp>
    </p:spTree>
    <p:extLst>
      <p:ext uri="{BB962C8B-B14F-4D97-AF65-F5344CB8AC3E}">
        <p14:creationId xmlns:p14="http://schemas.microsoft.com/office/powerpoint/2010/main" val="2203874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59B178-256A-C9F2-2194-3DA83807F5A1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dirty="0"/>
              <a:t>SQL Query Pipeline &amp; Analytical Workflow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EF11895-F449-6249-8523-AD07AFFDCB0F}"/>
              </a:ext>
            </a:extLst>
          </p:cNvPr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129483-F3A1-462D-5EE9-67B90930009E}"/>
              </a:ext>
            </a:extLst>
          </p:cNvPr>
          <p:cNvSpPr/>
          <p:nvPr/>
        </p:nvSpPr>
        <p:spPr>
          <a:xfrm>
            <a:off x="1005840" y="1645920"/>
            <a:ext cx="640080" cy="64008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3D344A-3045-C56F-A1A6-D4E19539330A}"/>
              </a:ext>
            </a:extLst>
          </p:cNvPr>
          <p:cNvSpPr txBox="1"/>
          <p:nvPr/>
        </p:nvSpPr>
        <p:spPr>
          <a:xfrm>
            <a:off x="1920240" y="1600200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Dashboard Business Questions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Identifying key stakeholder requirements, operational KPIs, revenue drivers, and waiter efficiency questions.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6DFEB3-04E7-7BAE-E992-5D683D04DDA7}"/>
              </a:ext>
            </a:extLst>
          </p:cNvPr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3C3A25-4F91-9A91-E102-B536F10C0634}"/>
              </a:ext>
            </a:extLst>
          </p:cNvPr>
          <p:cNvSpPr/>
          <p:nvPr/>
        </p:nvSpPr>
        <p:spPr>
          <a:xfrm>
            <a:off x="1005840" y="2834640"/>
            <a:ext cx="640080" cy="64008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50E75-776B-6ECE-E7C9-81799CE6654F}"/>
              </a:ext>
            </a:extLst>
          </p:cNvPr>
          <p:cNvSpPr txBox="1"/>
          <p:nvPr/>
        </p:nvSpPr>
        <p:spPr>
          <a:xfrm>
            <a:off x="1920240" y="2788920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SQL Query Formulation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Writing structured SQL queries utilizing aggregations, GROUP BY, window functions, and multi-table JOINs.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D0EFB32-C3A1-FA58-7036-42AE52106B8D}"/>
              </a:ext>
            </a:extLst>
          </p:cNvPr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C67FA8-48F2-F486-33B9-2601E9BA1B24}"/>
              </a:ext>
            </a:extLst>
          </p:cNvPr>
          <p:cNvSpPr/>
          <p:nvPr/>
        </p:nvSpPr>
        <p:spPr>
          <a:xfrm>
            <a:off x="1005840" y="4023360"/>
            <a:ext cx="640080" cy="64008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A6148-21BF-FC52-E061-D84743BC214F}"/>
              </a:ext>
            </a:extLst>
          </p:cNvPr>
          <p:cNvSpPr txBox="1"/>
          <p:nvPr/>
        </p:nvSpPr>
        <p:spPr>
          <a:xfrm>
            <a:off x="1920240" y="3977640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Analysis &amp; Verification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Executing queries in SQL Server, validating result accuracy against raw transactional data.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32937CF-697E-8638-4F98-364EAD1A57CF}"/>
              </a:ext>
            </a:extLst>
          </p:cNvPr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520CD8-4455-3679-254A-F65E0E9FD5DD}"/>
              </a:ext>
            </a:extLst>
          </p:cNvPr>
          <p:cNvSpPr/>
          <p:nvPr/>
        </p:nvSpPr>
        <p:spPr>
          <a:xfrm>
            <a:off x="1005840" y="5212080"/>
            <a:ext cx="640080" cy="640080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A848BC-6E8F-70D9-02BC-128E94B83BF7}"/>
              </a:ext>
            </a:extLst>
          </p:cNvPr>
          <p:cNvSpPr txBox="1"/>
          <p:nvPr/>
        </p:nvSpPr>
        <p:spPr>
          <a:xfrm>
            <a:off x="1920240" y="5166360"/>
            <a:ext cx="9326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Power BI Data Import</a:t>
            </a:r>
          </a:p>
          <a:p>
            <a:pPr>
              <a:defRPr sz="1050">
                <a:solidFill>
                  <a:srgbClr val="6C757D"/>
                </a:solidFill>
              </a:defRPr>
            </a:pPr>
            <a:r>
              <a:t>Connecting Power BI to SQL Server views / queries for automated dashboard metric visual rendering.</a:t>
            </a:r>
          </a:p>
        </p:txBody>
      </p:sp>
    </p:spTree>
    <p:extLst>
      <p:ext uri="{BB962C8B-B14F-4D97-AF65-F5344CB8AC3E}">
        <p14:creationId xmlns:p14="http://schemas.microsoft.com/office/powerpoint/2010/main" val="428967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2E32B8-3B26-C4B9-CAEC-B925D4FB27CE}"/>
              </a:ext>
            </a:extLst>
          </p:cNvPr>
          <p:cNvSpPr txBox="1"/>
          <p:nvPr/>
        </p:nvSpPr>
        <p:spPr>
          <a:xfrm>
            <a:off x="3048000" y="301350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7A1F2B"/>
                </a:solidFill>
              </a:rPr>
              <a:t>SQL Screenshot</a:t>
            </a:r>
          </a:p>
        </p:txBody>
      </p:sp>
    </p:spTree>
    <p:extLst>
      <p:ext uri="{BB962C8B-B14F-4D97-AF65-F5344CB8AC3E}">
        <p14:creationId xmlns:p14="http://schemas.microsoft.com/office/powerpoint/2010/main" val="1514455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no_vine_2_executive_overview">
            <a:hlinkClick r:id="" action="ppaction://media"/>
            <a:extLst>
              <a:ext uri="{FF2B5EF4-FFF2-40B4-BE49-F238E27FC236}">
                <a16:creationId xmlns:a16="http://schemas.microsoft.com/office/drawing/2014/main" id="{3762494A-AA9E-2FCD-EF80-72FF53829AB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18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8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8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11541F5-DF4E-F3E4-A3A0-6F8AB141EAE9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lang="en-US" dirty="0"/>
              <a:t>Dashboard 1: Performance Metrics &amp; DAX Measures</a:t>
            </a:r>
            <a:endParaRPr dirty="0"/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15727DD3-6EEE-73DA-CF04-68371E1FE367}"/>
              </a:ext>
            </a:extLst>
          </p:cNvPr>
          <p:cNvSpPr/>
          <p:nvPr/>
        </p:nvSpPr>
        <p:spPr>
          <a:xfrm>
            <a:off x="731520" y="1371600"/>
            <a:ext cx="5943600" cy="4069080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B47EB4-A07D-25B4-006D-1335DFB464F1}"/>
              </a:ext>
            </a:extLst>
          </p:cNvPr>
          <p:cNvSpPr txBox="1"/>
          <p:nvPr/>
        </p:nvSpPr>
        <p:spPr>
          <a:xfrm>
            <a:off x="914400" y="1744147"/>
            <a:ext cx="55778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E36"/>
                </a:solidFill>
                <a:latin typeface="Courier New"/>
              </a:defRPr>
            </a:pPr>
            <a:r>
              <a:rPr dirty="0">
                <a:solidFill>
                  <a:schemeClr val="bg1"/>
                </a:solidFill>
              </a:rPr>
              <a:t>// Executive Overview DAX Measures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Total Orders = 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COUNTROWS(</a:t>
            </a:r>
            <a:r>
              <a:rPr dirty="0" err="1">
                <a:solidFill>
                  <a:schemeClr val="bg1"/>
                </a:solidFill>
              </a:rPr>
              <a:t>Fact_Orders</a:t>
            </a:r>
            <a:r>
              <a:rPr dirty="0">
                <a:solidFill>
                  <a:schemeClr val="bg1"/>
                </a:solidFill>
              </a:rPr>
              <a:t>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Total Revenue = 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SUM(</a:t>
            </a:r>
            <a:r>
              <a:rPr dirty="0" err="1">
                <a:solidFill>
                  <a:schemeClr val="bg1"/>
                </a:solidFill>
              </a:rPr>
              <a:t>Fact_Orders</a:t>
            </a:r>
            <a:r>
              <a:rPr dirty="0">
                <a:solidFill>
                  <a:schemeClr val="bg1"/>
                </a:solidFill>
              </a:rPr>
              <a:t>[</a:t>
            </a:r>
            <a:r>
              <a:rPr dirty="0" err="1">
                <a:solidFill>
                  <a:schemeClr val="bg1"/>
                </a:solidFill>
              </a:rPr>
              <a:t>Total_Sales</a:t>
            </a:r>
            <a:r>
              <a:rPr dirty="0">
                <a:solidFill>
                  <a:schemeClr val="bg1"/>
                </a:solidFill>
              </a:rPr>
              <a:t>])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Average Order Value = 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DIVIDE([Total Revenue], [Total Orders], 0)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Average Customer Rating = 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AVERAGE(</a:t>
            </a:r>
            <a:r>
              <a:rPr dirty="0" err="1">
                <a:solidFill>
                  <a:schemeClr val="bg1"/>
                </a:solidFill>
              </a:rPr>
              <a:t>Fact_Orders</a:t>
            </a:r>
            <a:r>
              <a:rPr dirty="0">
                <a:solidFill>
                  <a:schemeClr val="bg1"/>
                </a:solidFill>
              </a:rPr>
              <a:t>[</a:t>
            </a:r>
            <a:r>
              <a:rPr dirty="0" err="1">
                <a:solidFill>
                  <a:schemeClr val="bg1"/>
                </a:solidFill>
              </a:rPr>
              <a:t>Customer_Rating</a:t>
            </a:r>
            <a:r>
              <a:rPr dirty="0">
                <a:solidFill>
                  <a:schemeClr val="bg1"/>
                </a:solidFill>
              </a:rPr>
              <a:t>])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Gross Sales = 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SUMX(</a:t>
            </a:r>
            <a:r>
              <a:rPr dirty="0" err="1">
                <a:solidFill>
                  <a:schemeClr val="bg1"/>
                </a:solidFill>
              </a:rPr>
              <a:t>Fact_Orders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Fact_Orders</a:t>
            </a:r>
            <a:r>
              <a:rPr dirty="0">
                <a:solidFill>
                  <a:schemeClr val="bg1"/>
                </a:solidFill>
              </a:rPr>
              <a:t>[Quantity] * </a:t>
            </a:r>
            <a:r>
              <a:rPr dirty="0" err="1">
                <a:solidFill>
                  <a:schemeClr val="bg1"/>
                </a:solidFill>
              </a:rPr>
              <a:t>Fact_Orders</a:t>
            </a:r>
            <a:r>
              <a:rPr dirty="0">
                <a:solidFill>
                  <a:schemeClr val="bg1"/>
                </a:solidFill>
              </a:rPr>
              <a:t>[</a:t>
            </a:r>
            <a:r>
              <a:rPr dirty="0" err="1">
                <a:solidFill>
                  <a:schemeClr val="bg1"/>
                </a:solidFill>
              </a:rPr>
              <a:t>Unit_Price</a:t>
            </a:r>
            <a:r>
              <a:rPr dirty="0">
                <a:solidFill>
                  <a:schemeClr val="bg1"/>
                </a:solidFill>
              </a:rPr>
              <a:t>])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Discount Amount = 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  [Gross Sales] - [Total Revenue]</a:t>
            </a:r>
          </a:p>
        </p:txBody>
      </p:sp>
      <p:sp>
        <p:nvSpPr>
          <p:cNvPr id="23" name="Rounded Rectangle 4">
            <a:extLst>
              <a:ext uri="{FF2B5EF4-FFF2-40B4-BE49-F238E27FC236}">
                <a16:creationId xmlns:a16="http://schemas.microsoft.com/office/drawing/2014/main" id="{20166354-A92C-D9BB-4DF0-73A0CD8000C5}"/>
              </a:ext>
            </a:extLst>
          </p:cNvPr>
          <p:cNvSpPr/>
          <p:nvPr/>
        </p:nvSpPr>
        <p:spPr>
          <a:xfrm>
            <a:off x="6949440" y="1371600"/>
            <a:ext cx="4510735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2FF2F9-9D04-7A99-2A8D-961434AA3230}"/>
              </a:ext>
            </a:extLst>
          </p:cNvPr>
          <p:cNvSpPr txBox="1"/>
          <p:nvPr/>
        </p:nvSpPr>
        <p:spPr>
          <a:xfrm>
            <a:off x="7162799" y="1593925"/>
            <a:ext cx="4114800" cy="3744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rPr lang="en-US" dirty="0">
                <a:solidFill>
                  <a:srgbClr val="7A1F2B"/>
                </a:solidFill>
              </a:rPr>
              <a:t>OBJECTIVE</a:t>
            </a:r>
          </a:p>
          <a:p>
            <a:pPr>
              <a:spcAft>
                <a:spcPts val="2000"/>
              </a:spcAft>
              <a:defRPr sz="1000">
                <a:solidFill>
                  <a:srgbClr val="212529"/>
                </a:solidFill>
              </a:defRPr>
            </a:pPr>
            <a:r>
              <a:rPr lang="en-US" dirty="0"/>
              <a:t>Provide a high-level executive summary of restaurant operational performance, revenue trends, customer demographics, and branch comparison.</a:t>
            </a:r>
          </a:p>
          <a:p>
            <a:pPr>
              <a:defRPr sz="1100" b="1">
                <a:solidFill>
                  <a:srgbClr val="0072CE"/>
                </a:solidFill>
              </a:defRPr>
            </a:pPr>
            <a:r>
              <a:rPr lang="en-US" dirty="0">
                <a:solidFill>
                  <a:srgbClr val="7A1F2B"/>
                </a:solidFill>
              </a:rPr>
              <a:t>TARGET AUDIENCE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lang="en-US" dirty="0"/>
              <a:t>• Restaurant Managers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lang="en-US" dirty="0"/>
              <a:t>• Business Owners</a:t>
            </a:r>
          </a:p>
          <a:p>
            <a:pPr>
              <a:spcAft>
                <a:spcPts val="2000"/>
              </a:spcAft>
              <a:defRPr sz="1000">
                <a:solidFill>
                  <a:srgbClr val="212529"/>
                </a:solidFill>
              </a:defRPr>
            </a:pPr>
            <a:r>
              <a:rPr lang="en-US" dirty="0"/>
              <a:t>• C-Suite Decision Makers</a:t>
            </a:r>
            <a:endParaRPr lang="ar-EG" dirty="0"/>
          </a:p>
          <a:p>
            <a:r>
              <a:rPr lang="en-US" sz="1100" b="1" dirty="0">
                <a:solidFill>
                  <a:srgbClr val="7A1F2B"/>
                </a:solidFill>
              </a:rPr>
              <a:t>KPIs</a:t>
            </a:r>
            <a:endParaRPr lang="en-US" sz="1100" dirty="0">
              <a:solidFill>
                <a:srgbClr val="7A1F2B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Total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Total Revenue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Average Order Value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Customer Rating </a:t>
            </a:r>
            <a:endParaRPr lang="ar-EG" sz="1000" dirty="0"/>
          </a:p>
          <a:p>
            <a:pPr>
              <a:buFont typeface="Arial" panose="020B0604020202020204" pitchFamily="34" charset="0"/>
              <a:buChar char="•"/>
            </a:pPr>
            <a:endParaRPr lang="en-US" sz="1000" dirty="0"/>
          </a:p>
          <a:p>
            <a:r>
              <a:rPr lang="en-US" sz="1100" b="1" dirty="0">
                <a:solidFill>
                  <a:srgbClr val="7A1F2B"/>
                </a:solidFill>
              </a:rPr>
              <a:t>Business Questions</a:t>
            </a:r>
            <a:endParaRPr lang="en-US" sz="1100" dirty="0">
              <a:solidFill>
                <a:srgbClr val="7A1F2B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How is the restaurant performing?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Which branch generates the highest revenue?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Which month has the highest sales?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What are customer ordering patterns? </a:t>
            </a:r>
          </a:p>
          <a:p>
            <a:pPr>
              <a:spcAft>
                <a:spcPts val="2000"/>
              </a:spcAft>
              <a:defRPr sz="1000">
                <a:solidFill>
                  <a:srgbClr val="212529"/>
                </a:solidFill>
              </a:defRPr>
            </a:pP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0B84318-ECD2-3783-0EF6-A5779FAC861F}"/>
              </a:ext>
            </a:extLst>
          </p:cNvPr>
          <p:cNvGrpSpPr/>
          <p:nvPr/>
        </p:nvGrpSpPr>
        <p:grpSpPr>
          <a:xfrm>
            <a:off x="10000024" y="5798613"/>
            <a:ext cx="2555151" cy="1054656"/>
            <a:chOff x="5054644" y="5315712"/>
            <a:chExt cx="2555151" cy="1054656"/>
          </a:xfrm>
        </p:grpSpPr>
        <p:pic>
          <p:nvPicPr>
            <p:cNvPr id="25" name="Image 0" descr="/home/claude/assets/logo.png">
              <a:extLst>
                <a:ext uri="{FF2B5EF4-FFF2-40B4-BE49-F238E27FC236}">
                  <a16:creationId xmlns:a16="http://schemas.microsoft.com/office/drawing/2014/main" id="{B94C02B8-E38E-9042-BFCA-F57CF3C2C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9319" y="5315712"/>
              <a:ext cx="685800" cy="685800"/>
            </a:xfrm>
            <a:prstGeom prst="rect">
              <a:avLst/>
            </a:prstGeom>
          </p:spPr>
        </p:pic>
        <p:sp>
          <p:nvSpPr>
            <p:cNvPr id="26" name="Text 0">
              <a:extLst>
                <a:ext uri="{FF2B5EF4-FFF2-40B4-BE49-F238E27FC236}">
                  <a16:creationId xmlns:a16="http://schemas.microsoft.com/office/drawing/2014/main" id="{C4A0530B-AA1B-CD65-8643-D5774522B4AB}"/>
                </a:ext>
              </a:extLst>
            </p:cNvPr>
            <p:cNvSpPr/>
            <p:nvPr/>
          </p:nvSpPr>
          <p:spPr>
            <a:xfrm>
              <a:off x="5054644" y="5877925"/>
              <a:ext cx="2555151" cy="49244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kern="0" spc="300" dirty="0">
                  <a:solidFill>
                    <a:srgbClr val="E8CC6B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F O R N O   &amp;   V I N E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4834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6DDF19-E97C-79B8-CED2-D1CADA74AD94}"/>
              </a:ext>
            </a:extLst>
          </p:cNvPr>
          <p:cNvSpPr txBox="1"/>
          <p:nvPr/>
        </p:nvSpPr>
        <p:spPr>
          <a:xfrm>
            <a:off x="38608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dirty="0"/>
              <a:t>Dashboard 1: Executive Overview Architecture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D1B0B5-D724-E63F-60A0-FB9ECAD8FDE5}"/>
              </a:ext>
            </a:extLst>
          </p:cNvPr>
          <p:cNvSpPr/>
          <p:nvPr/>
        </p:nvSpPr>
        <p:spPr>
          <a:xfrm>
            <a:off x="198570" y="1005839"/>
            <a:ext cx="9572263" cy="5719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7" name="Add-in 26">
                <a:extLst>
                  <a:ext uri="{FF2B5EF4-FFF2-40B4-BE49-F238E27FC236}">
                    <a16:creationId xmlns:a16="http://schemas.microsoft.com/office/drawing/2014/main" id="{EE9EE0B1-01E0-C39B-D8D6-6782E541FF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940671"/>
                  </p:ext>
                </p:extLst>
              </p:nvPr>
            </p:nvGraphicFramePr>
            <p:xfrm>
              <a:off x="451092" y="1165947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7" name="Add-in 26">
                <a:extLst>
                  <a:ext uri="{FF2B5EF4-FFF2-40B4-BE49-F238E27FC236}">
                    <a16:creationId xmlns:a16="http://schemas.microsoft.com/office/drawing/2014/main" id="{EE9EE0B1-01E0-C39B-D8D6-6782E541FF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092" y="1165947"/>
                <a:ext cx="9144000" cy="54330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4DE8E0EF-0561-5DE8-AEA2-3495CE4C3608}"/>
              </a:ext>
            </a:extLst>
          </p:cNvPr>
          <p:cNvGrpSpPr/>
          <p:nvPr/>
        </p:nvGrpSpPr>
        <p:grpSpPr>
          <a:xfrm>
            <a:off x="9926320" y="923533"/>
            <a:ext cx="2099776" cy="3748527"/>
            <a:chOff x="252510" y="1371600"/>
            <a:chExt cx="3770850" cy="248352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4F2061D6-CA8D-3AE7-8D4E-005DE9FB5866}"/>
                </a:ext>
              </a:extLst>
            </p:cNvPr>
            <p:cNvSpPr/>
            <p:nvPr/>
          </p:nvSpPr>
          <p:spPr>
            <a:xfrm>
              <a:off x="252510" y="1371600"/>
              <a:ext cx="3770850" cy="24835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C4E5939-7993-C2E2-B192-9D0B7EA659E6}"/>
                </a:ext>
              </a:extLst>
            </p:cNvPr>
            <p:cNvSpPr txBox="1"/>
            <p:nvPr/>
          </p:nvSpPr>
          <p:spPr>
            <a:xfrm>
              <a:off x="508160" y="1438764"/>
              <a:ext cx="3259549" cy="2416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00" b="1">
                  <a:solidFill>
                    <a:srgbClr val="0072CE"/>
                  </a:solidFill>
                </a:defRPr>
              </a:pPr>
              <a:r>
                <a:rPr lang="en-US" sz="1100" b="1" dirty="0">
                  <a:solidFill>
                    <a:srgbClr val="7A1F2B"/>
                  </a:solidFill>
                </a:rPr>
                <a:t>Key Business Insights</a:t>
              </a:r>
              <a:endParaRPr lang="ar-EG" sz="1100" b="1" dirty="0">
                <a:solidFill>
                  <a:srgbClr val="7A1F2B"/>
                </a:solidFill>
              </a:endParaRPr>
            </a:p>
            <a:p>
              <a:r>
                <a:rPr lang="en-US" sz="1000" dirty="0"/>
                <a:t>• </a:t>
              </a:r>
              <a:r>
                <a:rPr lang="ar-EG" sz="1000" dirty="0"/>
                <a:t> </a:t>
              </a:r>
              <a:r>
                <a:rPr lang="en-US" sz="1000" dirty="0"/>
                <a:t>Processed 19,009 completed orders, generating a total revenue of 5.86M with an average order value of 308.33. </a:t>
              </a:r>
              <a:endParaRPr lang="ar-EG" sz="1000" dirty="0"/>
            </a:p>
            <a:p>
              <a:endParaRPr lang="en-US" sz="100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ar-EG" sz="1000" dirty="0"/>
                <a:t> </a:t>
              </a:r>
              <a:r>
                <a:rPr lang="en-US" sz="1000" dirty="0"/>
                <a:t>Dinner was the highest-performing meal period, while Dine In was the most preferred dining option with 9,502 orders. </a:t>
              </a:r>
              <a:endParaRPr lang="ar-EG" sz="1000" dirty="0"/>
            </a:p>
            <a:p>
              <a:pPr>
                <a:buFont typeface="Arial" panose="020B0604020202020204" pitchFamily="34" charset="0"/>
                <a:buChar char="•"/>
              </a:pPr>
              <a:endParaRPr lang="en-US" sz="100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ar-EG" sz="1000" dirty="0"/>
                <a:t> </a:t>
              </a:r>
              <a:r>
                <a:rPr lang="en-US" sz="1000" dirty="0"/>
                <a:t>Returning customers accounted for 72% of all orders (13,630), demonstrating strong customer loyalty. </a:t>
              </a:r>
              <a:endParaRPr lang="ar-EG" sz="1000" dirty="0"/>
            </a:p>
            <a:p>
              <a:pPr>
                <a:buFont typeface="Arial" panose="020B0604020202020204" pitchFamily="34" charset="0"/>
                <a:buChar char="•"/>
              </a:pPr>
              <a:endParaRPr lang="en-US" sz="100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ar-EG" sz="1000" dirty="0"/>
                <a:t> </a:t>
              </a:r>
              <a:r>
                <a:rPr lang="en-US" sz="1000" dirty="0"/>
                <a:t>Downtown was the top-performing branch with 1.61M in revenue, while sales remained relatively stable throughout the year.</a:t>
              </a:r>
            </a:p>
            <a:p>
              <a:pPr>
                <a:spcAft>
                  <a:spcPts val="2000"/>
                </a:spcAft>
                <a:defRPr sz="1000">
                  <a:solidFill>
                    <a:srgbClr val="212529"/>
                  </a:solidFill>
                </a:defRPr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354323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no_vine_3_menu_product_performance">
            <a:hlinkClick r:id="" action="ppaction://media"/>
            <a:extLst>
              <a:ext uri="{FF2B5EF4-FFF2-40B4-BE49-F238E27FC236}">
                <a16:creationId xmlns:a16="http://schemas.microsoft.com/office/drawing/2014/main" id="{81E56160-C6DA-3FE1-A34B-1A017F7F1F1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18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7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8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11541F5-DF4E-F3E4-A3A0-6F8AB141EAE9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lang="en-US" dirty="0"/>
              <a:t>Dashboard </a:t>
            </a:r>
            <a:r>
              <a:rPr lang="ar-EG" dirty="0"/>
              <a:t>2</a:t>
            </a:r>
            <a:r>
              <a:rPr lang="en-US" dirty="0"/>
              <a:t>: Performance Metrics &amp; DAX Measures</a:t>
            </a:r>
            <a:endParaRPr dirty="0"/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15727DD3-6EEE-73DA-CF04-68371E1FE367}"/>
              </a:ext>
            </a:extLst>
          </p:cNvPr>
          <p:cNvSpPr/>
          <p:nvPr/>
        </p:nvSpPr>
        <p:spPr>
          <a:xfrm>
            <a:off x="731520" y="1371600"/>
            <a:ext cx="5943600" cy="4069080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B47EB4-A07D-25B4-006D-1335DFB464F1}"/>
              </a:ext>
            </a:extLst>
          </p:cNvPr>
          <p:cNvSpPr txBox="1"/>
          <p:nvPr/>
        </p:nvSpPr>
        <p:spPr>
          <a:xfrm>
            <a:off x="914400" y="1744147"/>
            <a:ext cx="5577840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E36"/>
                </a:solidFill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// Menu Performance DAX Measures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Total Menu Items =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DISTINCTCOUNT(</a:t>
            </a:r>
            <a:r>
              <a:rPr lang="en-US" dirty="0" err="1">
                <a:solidFill>
                  <a:schemeClr val="bg1"/>
                </a:solidFill>
              </a:rPr>
              <a:t>Dim_Item</a:t>
            </a:r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en-US" dirty="0" err="1">
                <a:solidFill>
                  <a:schemeClr val="bg1"/>
                </a:solidFill>
              </a:rPr>
              <a:t>Item_Key</a:t>
            </a:r>
            <a:r>
              <a:rPr lang="en-US" dirty="0">
                <a:solidFill>
                  <a:schemeClr val="bg1"/>
                </a:solidFill>
              </a:rPr>
              <a:t>])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Total Categories =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DISTINCTCOUNT(</a:t>
            </a:r>
            <a:r>
              <a:rPr lang="en-US" dirty="0" err="1">
                <a:solidFill>
                  <a:schemeClr val="bg1"/>
                </a:solidFill>
              </a:rPr>
              <a:t>Dim_Item</a:t>
            </a:r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en-US" dirty="0" err="1">
                <a:solidFill>
                  <a:schemeClr val="bg1"/>
                </a:solidFill>
              </a:rPr>
              <a:t>Item_Category</a:t>
            </a:r>
            <a:r>
              <a:rPr lang="en-US" dirty="0">
                <a:solidFill>
                  <a:schemeClr val="bg1"/>
                </a:solidFill>
              </a:rPr>
              <a:t>])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Average Preparation Time =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AVERAGE(</a:t>
            </a:r>
            <a:r>
              <a:rPr lang="en-US" dirty="0" err="1">
                <a:solidFill>
                  <a:schemeClr val="bg1"/>
                </a:solidFill>
              </a:rPr>
              <a:t>Fact_Orders</a:t>
            </a:r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en-US" dirty="0" err="1">
                <a:solidFill>
                  <a:schemeClr val="bg1"/>
                </a:solidFill>
              </a:rPr>
              <a:t>Preparation_Time</a:t>
            </a:r>
            <a:r>
              <a:rPr lang="en-US" dirty="0">
                <a:solidFill>
                  <a:schemeClr val="bg1"/>
                </a:solidFill>
              </a:rPr>
              <a:t>])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Category Sales Share % =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DIVIDE(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[Total Revenue],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CALCULATE([Total Revenue], ALL(</a:t>
            </a:r>
            <a:r>
              <a:rPr lang="en-US" dirty="0" err="1">
                <a:solidFill>
                  <a:schemeClr val="bg1"/>
                </a:solidFill>
              </a:rPr>
              <a:t>Dim_Item</a:t>
            </a:r>
            <a:r>
              <a:rPr lang="en-US" dirty="0">
                <a:solidFill>
                  <a:schemeClr val="bg1"/>
                </a:solidFill>
              </a:rPr>
              <a:t>)),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0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)</a:t>
            </a:r>
          </a:p>
        </p:txBody>
      </p:sp>
      <p:sp>
        <p:nvSpPr>
          <p:cNvPr id="23" name="Rounded Rectangle 4">
            <a:extLst>
              <a:ext uri="{FF2B5EF4-FFF2-40B4-BE49-F238E27FC236}">
                <a16:creationId xmlns:a16="http://schemas.microsoft.com/office/drawing/2014/main" id="{20166354-A92C-D9BB-4DF0-73A0CD8000C5}"/>
              </a:ext>
            </a:extLst>
          </p:cNvPr>
          <p:cNvSpPr/>
          <p:nvPr/>
        </p:nvSpPr>
        <p:spPr>
          <a:xfrm>
            <a:off x="6949440" y="1371600"/>
            <a:ext cx="4510735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2FF2F9-9D04-7A99-2A8D-961434AA3230}"/>
              </a:ext>
            </a:extLst>
          </p:cNvPr>
          <p:cNvSpPr txBox="1"/>
          <p:nvPr/>
        </p:nvSpPr>
        <p:spPr>
          <a:xfrm>
            <a:off x="7147407" y="1654379"/>
            <a:ext cx="4114800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rPr lang="en-US" dirty="0">
                <a:solidFill>
                  <a:srgbClr val="7A1F2B"/>
                </a:solidFill>
              </a:rPr>
              <a:t>OBJECTIVE</a:t>
            </a:r>
          </a:p>
          <a:p>
            <a:pPr>
              <a:spcAft>
                <a:spcPts val="2000"/>
              </a:spcAft>
              <a:defRPr sz="1000">
                <a:solidFill>
                  <a:srgbClr val="212529"/>
                </a:solidFill>
              </a:defRPr>
            </a:pPr>
            <a:r>
              <a:rPr lang="en-US" dirty="0"/>
              <a:t>Evaluate product profitability, category revenue distribution, item popularity, preparation speed, and customer satisfaction by item.</a:t>
            </a:r>
          </a:p>
          <a:p>
            <a:pPr>
              <a:defRPr sz="1100" b="1">
                <a:solidFill>
                  <a:srgbClr val="0072CE"/>
                </a:solidFill>
              </a:defRPr>
            </a:pPr>
            <a:r>
              <a:rPr lang="en-US" dirty="0">
                <a:solidFill>
                  <a:srgbClr val="7A1F2B"/>
                </a:solidFill>
              </a:rPr>
              <a:t>TARGET AUDIENCE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lang="en-US" dirty="0"/>
              <a:t>• Restaurant Managers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lang="en-US" dirty="0"/>
              <a:t>• Marketing Team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lang="en-US" dirty="0"/>
              <a:t>• Menu Planning / Culinary Team</a:t>
            </a:r>
            <a:endParaRPr lang="ar-EG" dirty="0"/>
          </a:p>
          <a:p>
            <a:pPr>
              <a:defRPr sz="1000">
                <a:solidFill>
                  <a:srgbClr val="212529"/>
                </a:solidFill>
              </a:defRPr>
            </a:pPr>
            <a:endParaRPr lang="ar-EG" dirty="0"/>
          </a:p>
          <a:p>
            <a:r>
              <a:rPr lang="en-US" sz="1100" b="1" dirty="0">
                <a:solidFill>
                  <a:srgbClr val="7A1F2B"/>
                </a:solidFill>
              </a:rPr>
              <a:t>KPIs</a:t>
            </a:r>
            <a:endParaRPr lang="en-US" sz="1100" dirty="0">
              <a:solidFill>
                <a:srgbClr val="7A1F2B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Total Menu Items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Total Categories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Total Revenue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Quantity Sold </a:t>
            </a:r>
            <a:endParaRPr lang="ar-EG" sz="1000" dirty="0"/>
          </a:p>
          <a:p>
            <a:pPr>
              <a:buFont typeface="Arial" panose="020B0604020202020204" pitchFamily="34" charset="0"/>
              <a:buChar char="•"/>
            </a:pPr>
            <a:endParaRPr lang="en-US" sz="1000" dirty="0"/>
          </a:p>
          <a:p>
            <a:r>
              <a:rPr lang="en-US" sz="1100" b="1" dirty="0">
                <a:solidFill>
                  <a:srgbClr val="7A1F2B"/>
                </a:solidFill>
              </a:rPr>
              <a:t>Business Questions</a:t>
            </a:r>
            <a:endParaRPr lang="en-US" sz="1100" dirty="0">
              <a:solidFill>
                <a:srgbClr val="7A1F2B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Which products generate the highest revenue?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Which category performs best?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Which products receive the highest ratings? 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endParaRPr lang="en-US" dirty="0"/>
          </a:p>
          <a:p>
            <a:pPr>
              <a:defRPr sz="1100" b="1">
                <a:solidFill>
                  <a:srgbClr val="0072CE"/>
                </a:solidFill>
              </a:defRPr>
            </a:pP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0B84318-ECD2-3783-0EF6-A5779FAC861F}"/>
              </a:ext>
            </a:extLst>
          </p:cNvPr>
          <p:cNvGrpSpPr/>
          <p:nvPr/>
        </p:nvGrpSpPr>
        <p:grpSpPr>
          <a:xfrm>
            <a:off x="10000024" y="5798613"/>
            <a:ext cx="2555151" cy="1054656"/>
            <a:chOff x="5054644" y="5315712"/>
            <a:chExt cx="2555151" cy="1054656"/>
          </a:xfrm>
        </p:grpSpPr>
        <p:pic>
          <p:nvPicPr>
            <p:cNvPr id="25" name="Image 0" descr="/home/claude/assets/logo.png">
              <a:extLst>
                <a:ext uri="{FF2B5EF4-FFF2-40B4-BE49-F238E27FC236}">
                  <a16:creationId xmlns:a16="http://schemas.microsoft.com/office/drawing/2014/main" id="{B94C02B8-E38E-9042-BFCA-F57CF3C2C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9319" y="5315712"/>
              <a:ext cx="685800" cy="685800"/>
            </a:xfrm>
            <a:prstGeom prst="rect">
              <a:avLst/>
            </a:prstGeom>
          </p:spPr>
        </p:pic>
        <p:sp>
          <p:nvSpPr>
            <p:cNvPr id="26" name="Text 0">
              <a:extLst>
                <a:ext uri="{FF2B5EF4-FFF2-40B4-BE49-F238E27FC236}">
                  <a16:creationId xmlns:a16="http://schemas.microsoft.com/office/drawing/2014/main" id="{C4A0530B-AA1B-CD65-8643-D5774522B4AB}"/>
                </a:ext>
              </a:extLst>
            </p:cNvPr>
            <p:cNvSpPr/>
            <p:nvPr/>
          </p:nvSpPr>
          <p:spPr>
            <a:xfrm>
              <a:off x="5054644" y="5877925"/>
              <a:ext cx="2555151" cy="49244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kern="0" spc="300" dirty="0">
                  <a:solidFill>
                    <a:srgbClr val="E8CC6B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F O R N O   &amp;   V I N E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30108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6DDF19-E97C-79B8-CED2-D1CADA74AD94}"/>
              </a:ext>
            </a:extLst>
          </p:cNvPr>
          <p:cNvSpPr txBox="1"/>
          <p:nvPr/>
        </p:nvSpPr>
        <p:spPr>
          <a:xfrm>
            <a:off x="38608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lang="en-US" dirty="0"/>
              <a:t>Dashboard 2: Menu &amp; Product Performance Architecture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D1B0B5-D724-E63F-60A0-FB9ECAD8FDE5}"/>
              </a:ext>
            </a:extLst>
          </p:cNvPr>
          <p:cNvSpPr/>
          <p:nvPr/>
        </p:nvSpPr>
        <p:spPr>
          <a:xfrm>
            <a:off x="198570" y="1005839"/>
            <a:ext cx="9572263" cy="5719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7" name="Add-in 26">
                <a:extLst>
                  <a:ext uri="{FF2B5EF4-FFF2-40B4-BE49-F238E27FC236}">
                    <a16:creationId xmlns:a16="http://schemas.microsoft.com/office/drawing/2014/main" id="{EE9EE0B1-01E0-C39B-D8D6-6782E541FFC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1092" y="1165947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7" name="Add-in 26">
                <a:extLst>
                  <a:ext uri="{FF2B5EF4-FFF2-40B4-BE49-F238E27FC236}">
                    <a16:creationId xmlns:a16="http://schemas.microsoft.com/office/drawing/2014/main" id="{EE9EE0B1-01E0-C39B-D8D6-6782E541FF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092" y="1165947"/>
                <a:ext cx="9144000" cy="54330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4DE8E0EF-0561-5DE8-AEA2-3495CE4C3608}"/>
              </a:ext>
            </a:extLst>
          </p:cNvPr>
          <p:cNvGrpSpPr/>
          <p:nvPr/>
        </p:nvGrpSpPr>
        <p:grpSpPr>
          <a:xfrm>
            <a:off x="9926320" y="923533"/>
            <a:ext cx="2099776" cy="3953268"/>
            <a:chOff x="252510" y="1371600"/>
            <a:chExt cx="3770850" cy="2619168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4F2061D6-CA8D-3AE7-8D4E-005DE9FB5866}"/>
                </a:ext>
              </a:extLst>
            </p:cNvPr>
            <p:cNvSpPr/>
            <p:nvPr/>
          </p:nvSpPr>
          <p:spPr>
            <a:xfrm>
              <a:off x="252510" y="1371600"/>
              <a:ext cx="3770850" cy="26191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C4E5939-7993-C2E2-B192-9D0B7EA659E6}"/>
                </a:ext>
              </a:extLst>
            </p:cNvPr>
            <p:cNvSpPr txBox="1"/>
            <p:nvPr/>
          </p:nvSpPr>
          <p:spPr>
            <a:xfrm>
              <a:off x="508160" y="1438764"/>
              <a:ext cx="3456538" cy="24010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00" b="1">
                  <a:solidFill>
                    <a:srgbClr val="0072CE"/>
                  </a:solidFill>
                </a:defRPr>
              </a:pPr>
              <a:r>
                <a:rPr lang="en-US" sz="1100" b="1" dirty="0">
                  <a:solidFill>
                    <a:srgbClr val="7A1F2B"/>
                  </a:solidFill>
                </a:rPr>
                <a:t>Key Business Insights</a:t>
              </a:r>
              <a:endParaRPr lang="ar-EG" sz="1100" b="1" dirty="0">
                <a:solidFill>
                  <a:srgbClr val="7A1F2B"/>
                </a:solidFill>
              </a:endParaRPr>
            </a:p>
            <a:p>
              <a:r>
                <a:rPr lang="en-US" sz="950" dirty="0"/>
                <a:t>The menu includes 20 items across 5 categories, with Pizza leading all categories by generating 2.23M in revenue and selling 11,104 items</a:t>
              </a:r>
              <a:endParaRPr lang="ar-EG" sz="950" dirty="0"/>
            </a:p>
            <a:p>
              <a:endParaRPr lang="ar-EG" sz="950" dirty="0"/>
            </a:p>
            <a:p>
              <a:r>
                <a:rPr lang="en-US" sz="950" dirty="0"/>
                <a:t>.Margherita is the best-performing product, generating 709.5K in revenue and recording 2,067 orders, making it both the top-selling and highest-revenue menu item</a:t>
              </a:r>
              <a:endParaRPr lang="ar-EG" sz="950" dirty="0"/>
            </a:p>
            <a:p>
              <a:endParaRPr lang="ar-EG" sz="950" dirty="0"/>
            </a:p>
            <a:p>
              <a:r>
                <a:rPr lang="en-US" sz="950" dirty="0"/>
                <a:t>.Pasta has the highest average order value at 399.08, while Pizza requires the longest average preparation time of approximately 22 minutes</a:t>
              </a:r>
              <a:endParaRPr lang="ar-EG" sz="950" dirty="0"/>
            </a:p>
            <a:p>
              <a:endParaRPr lang="ar-EG" sz="950" dirty="0"/>
            </a:p>
            <a:p>
              <a:r>
                <a:rPr lang="en-US" sz="950" dirty="0"/>
                <a:t>.Desserts and Drinks contribute the lowest share of total revenue, indicating potential opportunities for promotions and menu optimization.</a:t>
              </a:r>
              <a:endParaRPr sz="95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9225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no_vine_4_branch_operations_performance">
            <a:hlinkClick r:id="" action="ppaction://media"/>
            <a:extLst>
              <a:ext uri="{FF2B5EF4-FFF2-40B4-BE49-F238E27FC236}">
                <a16:creationId xmlns:a16="http://schemas.microsoft.com/office/drawing/2014/main" id="{4F953B98-FB1E-B073-56EB-3333D5AECD80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18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89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8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811541F5-DF4E-F3E4-A3A0-6F8AB141EAE9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lang="en-US" dirty="0"/>
              <a:t>Dashboard </a:t>
            </a:r>
            <a:r>
              <a:rPr lang="ar-EG" dirty="0"/>
              <a:t>3</a:t>
            </a:r>
            <a:r>
              <a:rPr lang="en-US" dirty="0"/>
              <a:t>: Performance Metrics &amp; DAX Measures</a:t>
            </a:r>
            <a:endParaRPr dirty="0"/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15727DD3-6EEE-73DA-CF04-68371E1FE367}"/>
              </a:ext>
            </a:extLst>
          </p:cNvPr>
          <p:cNvSpPr/>
          <p:nvPr/>
        </p:nvSpPr>
        <p:spPr>
          <a:xfrm>
            <a:off x="731520" y="1371600"/>
            <a:ext cx="5943600" cy="4069080"/>
          </a:xfrm>
          <a:prstGeom prst="roundRect">
            <a:avLst/>
          </a:prstGeom>
          <a:solidFill>
            <a:srgbClr val="7A1F2B"/>
          </a:solidFill>
          <a:ln w="1270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B47EB4-A07D-25B4-006D-1335DFB464F1}"/>
              </a:ext>
            </a:extLst>
          </p:cNvPr>
          <p:cNvSpPr txBox="1"/>
          <p:nvPr/>
        </p:nvSpPr>
        <p:spPr>
          <a:xfrm>
            <a:off x="914400" y="1744147"/>
            <a:ext cx="55778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E36"/>
                </a:solidFill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// Operations DAX Measures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Total Branches =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DISTINCTCOUNT(</a:t>
            </a:r>
            <a:r>
              <a:rPr lang="en-US" dirty="0" err="1">
                <a:solidFill>
                  <a:schemeClr val="bg1"/>
                </a:solidFill>
              </a:rPr>
              <a:t>Dim_Branch</a:t>
            </a:r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en-US" dirty="0" err="1">
                <a:solidFill>
                  <a:schemeClr val="bg1"/>
                </a:solidFill>
              </a:rPr>
              <a:t>Branch_Key</a:t>
            </a:r>
            <a:r>
              <a:rPr lang="en-US" dirty="0">
                <a:solidFill>
                  <a:schemeClr val="bg1"/>
                </a:solidFill>
              </a:rPr>
              <a:t>])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Total Waiters =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DISTINCTCOUNT(</a:t>
            </a:r>
            <a:r>
              <a:rPr lang="en-US" dirty="0" err="1">
                <a:solidFill>
                  <a:schemeClr val="bg1"/>
                </a:solidFill>
              </a:rPr>
              <a:t>Dim_Waiter</a:t>
            </a:r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en-US" dirty="0" err="1">
                <a:solidFill>
                  <a:schemeClr val="bg1"/>
                </a:solidFill>
              </a:rPr>
              <a:t>Waiter_Key</a:t>
            </a:r>
            <a:r>
              <a:rPr lang="en-US" dirty="0">
                <a:solidFill>
                  <a:schemeClr val="bg1"/>
                </a:solidFill>
              </a:rPr>
              <a:t>])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Waiter Average Rating =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CALCULATE(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AVERAGE(</a:t>
            </a:r>
            <a:r>
              <a:rPr lang="en-US" dirty="0" err="1">
                <a:solidFill>
                  <a:schemeClr val="bg1"/>
                </a:solidFill>
              </a:rPr>
              <a:t>Fact_Orders</a:t>
            </a:r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en-US" dirty="0" err="1">
                <a:solidFill>
                  <a:schemeClr val="bg1"/>
                </a:solidFill>
              </a:rPr>
              <a:t>Customer_Rating</a:t>
            </a:r>
            <a:r>
              <a:rPr lang="en-US" dirty="0">
                <a:solidFill>
                  <a:schemeClr val="bg1"/>
                </a:solidFill>
              </a:rPr>
              <a:t>]),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Fact_Orders</a:t>
            </a:r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en-US" dirty="0" err="1">
                <a:solidFill>
                  <a:schemeClr val="bg1"/>
                </a:solidFill>
              </a:rPr>
              <a:t>Order_Status</a:t>
            </a:r>
            <a:r>
              <a:rPr lang="en-US" dirty="0">
                <a:solidFill>
                  <a:schemeClr val="bg1"/>
                </a:solidFill>
              </a:rPr>
              <a:t>] = "Completed"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)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Prep Time Efficiency Index =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DIVIDE(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[Average Preparation Time],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TARGET_PREP_TIME,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1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)</a:t>
            </a:r>
          </a:p>
        </p:txBody>
      </p:sp>
      <p:sp>
        <p:nvSpPr>
          <p:cNvPr id="23" name="Rounded Rectangle 4">
            <a:extLst>
              <a:ext uri="{FF2B5EF4-FFF2-40B4-BE49-F238E27FC236}">
                <a16:creationId xmlns:a16="http://schemas.microsoft.com/office/drawing/2014/main" id="{20166354-A92C-D9BB-4DF0-73A0CD8000C5}"/>
              </a:ext>
            </a:extLst>
          </p:cNvPr>
          <p:cNvSpPr/>
          <p:nvPr/>
        </p:nvSpPr>
        <p:spPr>
          <a:xfrm>
            <a:off x="6949440" y="1371600"/>
            <a:ext cx="4510735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2FF2F9-9D04-7A99-2A8D-961434AA3230}"/>
              </a:ext>
            </a:extLst>
          </p:cNvPr>
          <p:cNvSpPr txBox="1"/>
          <p:nvPr/>
        </p:nvSpPr>
        <p:spPr>
          <a:xfrm>
            <a:off x="7147407" y="1631295"/>
            <a:ext cx="4114800" cy="354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rPr lang="en-US" dirty="0">
                <a:solidFill>
                  <a:srgbClr val="7A1F2B"/>
                </a:solidFill>
              </a:rPr>
              <a:t>OBJECTIVE</a:t>
            </a:r>
          </a:p>
          <a:p>
            <a:pPr>
              <a:spcAft>
                <a:spcPts val="2000"/>
              </a:spcAft>
              <a:defRPr sz="1000">
                <a:solidFill>
                  <a:srgbClr val="212529"/>
                </a:solidFill>
              </a:defRPr>
            </a:pPr>
            <a:r>
              <a:rPr lang="en-US" dirty="0"/>
              <a:t>Evaluate operational efficiency across restaurant branches, waiter performance, prep times, and service quality consistency.</a:t>
            </a:r>
          </a:p>
          <a:p>
            <a:pPr>
              <a:defRPr sz="1100" b="1">
                <a:solidFill>
                  <a:srgbClr val="0072CE"/>
                </a:solidFill>
              </a:defRPr>
            </a:pPr>
            <a:r>
              <a:rPr lang="en-US" dirty="0">
                <a:solidFill>
                  <a:srgbClr val="7A1F2B"/>
                </a:solidFill>
              </a:rPr>
              <a:t>TARGET AUDIENCE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lang="en-US" dirty="0"/>
              <a:t>• Operations Managers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lang="en-US" dirty="0"/>
              <a:t>• Branch Managers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lang="en-US" dirty="0"/>
              <a:t>• Restaurant Franchise Owners</a:t>
            </a:r>
            <a:endParaRPr lang="ar-EG" dirty="0"/>
          </a:p>
          <a:p>
            <a:pPr>
              <a:defRPr sz="1000">
                <a:solidFill>
                  <a:srgbClr val="212529"/>
                </a:solidFill>
              </a:defRPr>
            </a:pPr>
            <a:endParaRPr lang="ar-EG" dirty="0"/>
          </a:p>
          <a:p>
            <a:r>
              <a:rPr lang="en-US" sz="1100" b="1" dirty="0">
                <a:solidFill>
                  <a:srgbClr val="7A1F2B"/>
                </a:solidFill>
              </a:rPr>
              <a:t>KPIs</a:t>
            </a:r>
            <a:endParaRPr lang="en-US" sz="1100" dirty="0">
              <a:solidFill>
                <a:srgbClr val="7A1F2B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Total Branches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Total Waiters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Total Revenue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Total Orders </a:t>
            </a:r>
            <a:endParaRPr lang="ar-EG" sz="1000" dirty="0"/>
          </a:p>
          <a:p>
            <a:pPr>
              <a:buFont typeface="Arial" panose="020B0604020202020204" pitchFamily="34" charset="0"/>
              <a:buChar char="•"/>
            </a:pPr>
            <a:endParaRPr lang="en-US" sz="1000" dirty="0"/>
          </a:p>
          <a:p>
            <a:r>
              <a:rPr lang="en-US" sz="1100" b="1" dirty="0">
                <a:solidFill>
                  <a:srgbClr val="7A1F2B"/>
                </a:solidFill>
              </a:rPr>
              <a:t>Business Questions</a:t>
            </a:r>
            <a:endParaRPr lang="en-US" sz="1100" dirty="0">
              <a:solidFill>
                <a:srgbClr val="7A1F2B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Which branch performs best?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Which waiter generates the highest revenue?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How efficient are branch operations?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endParaRPr lang="en-US" sz="1000" dirty="0"/>
          </a:p>
          <a:p>
            <a:pPr>
              <a:defRPr sz="1100" b="1">
                <a:solidFill>
                  <a:srgbClr val="0072CE"/>
                </a:solidFill>
              </a:defRPr>
            </a:pPr>
            <a:endParaRPr lang="en-US" sz="1400" b="1" dirty="0">
              <a:solidFill>
                <a:srgbClr val="7A1F2B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0B84318-ECD2-3783-0EF6-A5779FAC861F}"/>
              </a:ext>
            </a:extLst>
          </p:cNvPr>
          <p:cNvGrpSpPr/>
          <p:nvPr/>
        </p:nvGrpSpPr>
        <p:grpSpPr>
          <a:xfrm>
            <a:off x="10000024" y="5798613"/>
            <a:ext cx="2555151" cy="1054656"/>
            <a:chOff x="5054644" y="5315712"/>
            <a:chExt cx="2555151" cy="1054656"/>
          </a:xfrm>
        </p:grpSpPr>
        <p:pic>
          <p:nvPicPr>
            <p:cNvPr id="25" name="Image 0" descr="/home/claude/assets/logo.png">
              <a:extLst>
                <a:ext uri="{FF2B5EF4-FFF2-40B4-BE49-F238E27FC236}">
                  <a16:creationId xmlns:a16="http://schemas.microsoft.com/office/drawing/2014/main" id="{B94C02B8-E38E-9042-BFCA-F57CF3C2C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9319" y="5315712"/>
              <a:ext cx="685800" cy="685800"/>
            </a:xfrm>
            <a:prstGeom prst="rect">
              <a:avLst/>
            </a:prstGeom>
          </p:spPr>
        </p:pic>
        <p:sp>
          <p:nvSpPr>
            <p:cNvPr id="26" name="Text 0">
              <a:extLst>
                <a:ext uri="{FF2B5EF4-FFF2-40B4-BE49-F238E27FC236}">
                  <a16:creationId xmlns:a16="http://schemas.microsoft.com/office/drawing/2014/main" id="{C4A0530B-AA1B-CD65-8643-D5774522B4AB}"/>
                </a:ext>
              </a:extLst>
            </p:cNvPr>
            <p:cNvSpPr/>
            <p:nvPr/>
          </p:nvSpPr>
          <p:spPr>
            <a:xfrm>
              <a:off x="5054644" y="5877925"/>
              <a:ext cx="2555151" cy="49244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kern="0" spc="300" dirty="0">
                  <a:solidFill>
                    <a:srgbClr val="E8CC6B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F O R N O   &amp;   V I N E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678159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6DDF19-E97C-79B8-CED2-D1CADA74AD94}"/>
              </a:ext>
            </a:extLst>
          </p:cNvPr>
          <p:cNvSpPr txBox="1"/>
          <p:nvPr/>
        </p:nvSpPr>
        <p:spPr>
          <a:xfrm>
            <a:off x="38608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lang="en-US" dirty="0"/>
              <a:t>Dashboard 2: Menu &amp; Product Performance Architecture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D1B0B5-D724-E63F-60A0-FB9ECAD8FDE5}"/>
              </a:ext>
            </a:extLst>
          </p:cNvPr>
          <p:cNvSpPr/>
          <p:nvPr/>
        </p:nvSpPr>
        <p:spPr>
          <a:xfrm>
            <a:off x="198570" y="1005839"/>
            <a:ext cx="9572263" cy="5719051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7" name="Add-in 26">
                <a:extLst>
                  <a:ext uri="{FF2B5EF4-FFF2-40B4-BE49-F238E27FC236}">
                    <a16:creationId xmlns:a16="http://schemas.microsoft.com/office/drawing/2014/main" id="{EE9EE0B1-01E0-C39B-D8D6-6782E541FFC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1092" y="1165947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7" name="Add-in 26">
                <a:extLst>
                  <a:ext uri="{FF2B5EF4-FFF2-40B4-BE49-F238E27FC236}">
                    <a16:creationId xmlns:a16="http://schemas.microsoft.com/office/drawing/2014/main" id="{EE9EE0B1-01E0-C39B-D8D6-6782E541FF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092" y="1165947"/>
                <a:ext cx="9144000" cy="54330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4DE8E0EF-0561-5DE8-AEA2-3495CE4C3608}"/>
              </a:ext>
            </a:extLst>
          </p:cNvPr>
          <p:cNvGrpSpPr/>
          <p:nvPr/>
        </p:nvGrpSpPr>
        <p:grpSpPr>
          <a:xfrm>
            <a:off x="9926320" y="923533"/>
            <a:ext cx="2099776" cy="4225983"/>
            <a:chOff x="252510" y="1371600"/>
            <a:chExt cx="3770850" cy="2799851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4F2061D6-CA8D-3AE7-8D4E-005DE9FB5866}"/>
                </a:ext>
              </a:extLst>
            </p:cNvPr>
            <p:cNvSpPr/>
            <p:nvPr/>
          </p:nvSpPr>
          <p:spPr>
            <a:xfrm>
              <a:off x="252510" y="1371600"/>
              <a:ext cx="3770850" cy="2799851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E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C4E5939-7993-C2E2-B192-9D0B7EA659E6}"/>
                </a:ext>
              </a:extLst>
            </p:cNvPr>
            <p:cNvSpPr txBox="1"/>
            <p:nvPr/>
          </p:nvSpPr>
          <p:spPr>
            <a:xfrm>
              <a:off x="426769" y="1438764"/>
              <a:ext cx="3537928" cy="2594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100" b="1">
                  <a:solidFill>
                    <a:srgbClr val="0072CE"/>
                  </a:solidFill>
                </a:defRPr>
              </a:pPr>
              <a:r>
                <a:rPr lang="en-US" sz="1100" b="1" dirty="0">
                  <a:solidFill>
                    <a:srgbClr val="7A1F2B"/>
                  </a:solidFill>
                </a:rPr>
                <a:t>Key Business Insights</a:t>
              </a:r>
              <a:endParaRPr lang="en-US" sz="100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950" b="1" dirty="0"/>
                <a:t>The restaurant operates across 6 branches with 12 waiters</a:t>
              </a:r>
              <a:r>
                <a:rPr lang="en-US" sz="950" dirty="0"/>
                <a:t>, where </a:t>
              </a:r>
              <a:r>
                <a:rPr lang="en-US" sz="950" b="1" dirty="0"/>
                <a:t>Downtown</a:t>
              </a:r>
              <a:r>
                <a:rPr lang="en-US" sz="950" dirty="0"/>
                <a:t> leads with </a:t>
              </a:r>
              <a:r>
                <a:rPr lang="en-US" sz="950" b="1" dirty="0"/>
                <a:t>1.61M</a:t>
              </a:r>
              <a:r>
                <a:rPr lang="en-US" sz="950" dirty="0"/>
                <a:t> in revenue and </a:t>
              </a:r>
              <a:r>
                <a:rPr lang="en-US" sz="950" b="1" dirty="0"/>
                <a:t>5,234</a:t>
              </a:r>
              <a:r>
                <a:rPr lang="en-US" sz="950" dirty="0"/>
                <a:t> completed orders, followed by </a:t>
              </a:r>
              <a:r>
                <a:rPr lang="en-US" sz="950" b="1" dirty="0"/>
                <a:t>Mall Branch</a:t>
              </a:r>
              <a:r>
                <a:rPr lang="en-US" sz="950" dirty="0"/>
                <a:t>. </a:t>
              </a:r>
              <a:endParaRPr lang="ar-EG" sz="950" dirty="0"/>
            </a:p>
            <a:p>
              <a:pPr>
                <a:buFont typeface="Arial" panose="020B0604020202020204" pitchFamily="34" charset="0"/>
                <a:buChar char="•"/>
              </a:pPr>
              <a:endParaRPr lang="en-US" sz="95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950" b="1" dirty="0"/>
                <a:t>Ahmed Hassan</a:t>
              </a:r>
              <a:r>
                <a:rPr lang="en-US" sz="950" dirty="0"/>
                <a:t> is the top-performing waiter, generating </a:t>
              </a:r>
              <a:r>
                <a:rPr lang="en-US" sz="950" b="1" dirty="0"/>
                <a:t>806.4K</a:t>
              </a:r>
              <a:r>
                <a:rPr lang="en-US" sz="950" dirty="0"/>
                <a:t> in revenue and handling </a:t>
              </a:r>
              <a:r>
                <a:rPr lang="en-US" sz="950" b="1" dirty="0"/>
                <a:t>2,625</a:t>
              </a:r>
              <a:r>
                <a:rPr lang="en-US" sz="950" dirty="0"/>
                <a:t> orders, making him the highest-performing employee. </a:t>
              </a:r>
              <a:endParaRPr lang="ar-EG" sz="950" dirty="0"/>
            </a:p>
            <a:p>
              <a:pPr>
                <a:buFont typeface="Arial" panose="020B0604020202020204" pitchFamily="34" charset="0"/>
                <a:buChar char="•"/>
              </a:pPr>
              <a:endParaRPr lang="en-US" sz="95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950" b="1" dirty="0"/>
                <a:t>Customer satisfaction averages 3/5</a:t>
              </a:r>
              <a:r>
                <a:rPr lang="en-US" sz="950" dirty="0"/>
                <a:t> across all branches, while the average preparation time remains consistent at approximately </a:t>
              </a:r>
              <a:r>
                <a:rPr lang="en-US" sz="950" b="1" dirty="0"/>
                <a:t>16 minutes</a:t>
              </a:r>
              <a:r>
                <a:rPr lang="en-US" sz="950" dirty="0"/>
                <a:t>, indicating standardized operations. </a:t>
              </a:r>
              <a:endParaRPr lang="ar-EG" sz="950" dirty="0"/>
            </a:p>
            <a:p>
              <a:pPr>
                <a:buFont typeface="Arial" panose="020B0604020202020204" pitchFamily="34" charset="0"/>
                <a:buChar char="•"/>
              </a:pPr>
              <a:endParaRPr lang="en-US" sz="950" dirty="0"/>
            </a:p>
            <a:p>
              <a:pPr>
                <a:buFont typeface="Arial" panose="020B0604020202020204" pitchFamily="34" charset="0"/>
                <a:buChar char="•"/>
              </a:pPr>
              <a:r>
                <a:rPr lang="en-US" sz="950" b="1" dirty="0"/>
                <a:t>Revenue is concentrated in Downtown and Mall Branch</a:t>
              </a:r>
              <a:r>
                <a:rPr lang="en-US" sz="950" dirty="0"/>
                <a:t>, suggesting these two locations are the primary drivers of the restaurant's overall business performance.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1245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no_vine_5_business_insights_recommendations">
            <a:hlinkClick r:id="" action="ppaction://media"/>
            <a:extLst>
              <a:ext uri="{FF2B5EF4-FFF2-40B4-BE49-F238E27FC236}">
                <a16:creationId xmlns:a16="http://schemas.microsoft.com/office/drawing/2014/main" id="{EEAE8EDB-A208-B2CD-FA3B-B6951AD0E98B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18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"/>
            <a:ext cx="1219200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2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8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D1B0B5-D724-E63F-60A0-FB9ECAD8FDE5}"/>
              </a:ext>
            </a:extLst>
          </p:cNvPr>
          <p:cNvSpPr/>
          <p:nvPr/>
        </p:nvSpPr>
        <p:spPr>
          <a:xfrm>
            <a:off x="118577" y="45720"/>
            <a:ext cx="11954847" cy="6766561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7" name="Add-in 26">
                <a:extLst>
                  <a:ext uri="{FF2B5EF4-FFF2-40B4-BE49-F238E27FC236}">
                    <a16:creationId xmlns:a16="http://schemas.microsoft.com/office/drawing/2014/main" id="{EE9EE0B1-01E0-C39B-D8D6-6782E541FF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964312"/>
                  </p:ext>
                </p:extLst>
              </p:nvPr>
            </p:nvGraphicFramePr>
            <p:xfrm>
              <a:off x="296924" y="209690"/>
              <a:ext cx="11598153" cy="643862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7" name="Add-in 26">
                <a:extLst>
                  <a:ext uri="{FF2B5EF4-FFF2-40B4-BE49-F238E27FC236}">
                    <a16:creationId xmlns:a16="http://schemas.microsoft.com/office/drawing/2014/main" id="{EE9EE0B1-01E0-C39B-D8D6-6782E541FF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6924" y="209690"/>
                <a:ext cx="11598153" cy="64386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2946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A364550-BEAC-6184-67DD-BE2B8CE25991}"/>
              </a:ext>
            </a:extLst>
          </p:cNvPr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Calibri"/>
              </a:defRPr>
            </a:pPr>
            <a:r>
              <a:rPr dirty="0">
                <a:solidFill>
                  <a:srgbClr val="7A1F2B"/>
                </a:solidFill>
              </a:rPr>
              <a:t>RESTAURANT ORDERS ANALYSIS</a:t>
            </a:r>
          </a:p>
          <a:p>
            <a:pPr>
              <a:defRPr sz="2200" b="1">
                <a:solidFill>
                  <a:srgbClr val="0F1E36"/>
                </a:solidFill>
                <a:latin typeface="Calibri"/>
              </a:defRPr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9CB69C86-DBDD-AB4A-6E58-FF63C24C91E7}"/>
              </a:ext>
            </a:extLst>
          </p:cNvPr>
          <p:cNvSpPr/>
          <p:nvPr/>
        </p:nvSpPr>
        <p:spPr>
          <a:xfrm>
            <a:off x="563155" y="1371600"/>
            <a:ext cx="7100388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A1F2B"/>
                </a:solidFill>
              </a:rPr>
              <a:t>This project demonstrates how Business Intelligence transforms raw restaurant data into meaningful insights that support strategic decision-making. The developed solution provides management with a comprehensive view of sales performance, customer behavior, product performance, and operational efficiency through interactive Power BI dashboards.</a:t>
            </a:r>
          </a:p>
        </p:txBody>
      </p:sp>
      <p:pic>
        <p:nvPicPr>
          <p:cNvPr id="3" name="Image 0" descr="/home/claude/assets/logo.png">
            <a:extLst>
              <a:ext uri="{FF2B5EF4-FFF2-40B4-BE49-F238E27FC236}">
                <a16:creationId xmlns:a16="http://schemas.microsoft.com/office/drawing/2014/main" id="{0B254C86-F6E1-7B88-8D2F-0F7F820CA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271" y="1709928"/>
            <a:ext cx="1005840" cy="100584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AC3D7E1A-F600-D64F-659F-EC845C8D02AD}"/>
              </a:ext>
            </a:extLst>
          </p:cNvPr>
          <p:cNvSpPr/>
          <p:nvPr/>
        </p:nvSpPr>
        <p:spPr>
          <a:xfrm>
            <a:off x="3904343" y="2788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 O R N O   &amp;   V I N E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6CE5899-A466-E9D5-158C-E3D24434749A}"/>
              </a:ext>
            </a:extLst>
          </p:cNvPr>
          <p:cNvSpPr/>
          <p:nvPr/>
        </p:nvSpPr>
        <p:spPr>
          <a:xfrm>
            <a:off x="8135257" y="3069772"/>
            <a:ext cx="395514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2400" b="1" dirty="0">
                <a:solidFill>
                  <a:srgbClr val="7A1F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Restaurant Sales</a:t>
            </a:r>
            <a:endParaRPr lang="en-US" sz="2400" dirty="0">
              <a:solidFill>
                <a:srgbClr val="7A1F2B"/>
              </a:solidFill>
            </a:endParaRPr>
          </a:p>
          <a:p>
            <a:pPr marL="0" indent="0" algn="ctr">
              <a:lnSpc>
                <a:spcPts val="4200"/>
              </a:lnSpc>
              <a:buNone/>
            </a:pPr>
            <a:r>
              <a:rPr lang="en-US" sz="2400" b="1" dirty="0">
                <a:solidFill>
                  <a:srgbClr val="7A1F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Analytics Dashboard</a:t>
            </a:r>
            <a:endParaRPr lang="en-US" sz="2400" dirty="0">
              <a:solidFill>
                <a:srgbClr val="7A1F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373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648" y="19659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361188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D9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Forno &amp; Vine Restaurant Group — Restaurant Sales Analytics Dashboard</a:t>
            </a:r>
            <a:endParaRPr lang="en-US" sz="1200" dirty="0"/>
          </a:p>
        </p:txBody>
      </p:sp>
      <p:sp>
        <p:nvSpPr>
          <p:cNvPr id="6" name="Text 26">
            <a:extLst>
              <a:ext uri="{FF2B5EF4-FFF2-40B4-BE49-F238E27FC236}">
                <a16:creationId xmlns:a16="http://schemas.microsoft.com/office/drawing/2014/main" id="{C1282EA2-8D8F-BBD6-CD11-5C192A1DE410}"/>
              </a:ext>
            </a:extLst>
          </p:cNvPr>
          <p:cNvSpPr/>
          <p:nvPr/>
        </p:nvSpPr>
        <p:spPr>
          <a:xfrm>
            <a:off x="-1" y="4103769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	PYTHON 		</a:t>
            </a:r>
            <a:r>
              <a:rPr lang="en-US" sz="1100" b="1" kern="0" spc="100" dirty="0">
                <a:solidFill>
                  <a:srgbClr val="E8CC6B"/>
                </a:solidFill>
                <a:latin typeface="Poppins" pitchFamily="34" charset="0"/>
                <a:cs typeface="Poppins" pitchFamily="34" charset="-120"/>
              </a:rPr>
              <a:t>Data Warehouse	</a:t>
            </a:r>
            <a:r>
              <a:rPr lang="en-US" sz="1100" b="1" kern="0" spc="100" dirty="0">
                <a:solidFill>
                  <a:srgbClr val="E8CC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SERVER	 POWER BI    	</a:t>
            </a:r>
            <a:endParaRPr lang="en-US" sz="1100" b="1" kern="0" spc="100" dirty="0">
              <a:solidFill>
                <a:srgbClr val="E8CC6B"/>
              </a:solidFill>
              <a:latin typeface="Poppins" pitchFamily="34" charset="0"/>
              <a:cs typeface="Poppins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FA1C8E31-2E80-4E75-B4A4-531DA46E6F33}">
  <we:reference id="wa200003233" version="2.0.0.3" store="en-US" storeType="OMEX"/>
  <we:alternateReferences>
    <we:reference id="WA200003233" version="2.0.0.3" store="" storeType="OMEX"/>
  </we:alternateReferences>
  <we:properties>
    <we:property name="reportUrl" value="&quot;/groups/me/reports/60b65dbd-fcfb-4e9e-ae00-25f0e9eefcf1/6c9d81a9e21058d9399c?experience=power-bi&amp;pbi_source=storytelling_addin&quot;"/>
    <we:property name="reportName" value="&quot;Restaurant Business Intelligence Analysis&quot;"/>
    <we:property name="reportState" value="&quot;CONNECTED&quot;"/>
    <we:property name="embedUrl" value="&quot;/reportEmbed?reportId=60b65dbd-fcfb-4e9e-ae00-25f0e9eefcf1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pageName" value="&quot;6c9d81a9e21058d9399c&quot;"/>
    <we:property name="pageDisplayName" value="&quot;Overview&quot;"/>
    <we:property name="datasetId" value="&quot;611c5050-2133-48ea-a4a0-71c6b2a86836&quot;"/>
    <we:property name="backgroundColor" value="&quot;#FFFFFF&quot;"/>
    <we:property name="bookmark" value="&quot;H4sIAAAAAAAAA+1aS3PTSBD+KylduKS25v3IjSRQe+CRBYrLFpXqmWk5AltyyXJINpX/vi3JgSTYCEQFHMgp8cyo1c+vvx77IkvFYj6F8xcww2wv26+qDzOoP+zwbDcr+zVQ1kAOAZxWaBhjMTHareZNUZWLbO8ia6CeYPO2WCxh2gqixX/f7WYwnR7BpP2Uw3SBu9kc60VVwrT4D/vDtNXUS7zczfBsPq1qaEW+bqDBVuwpHafPpAL/S9IbITbFKb7G2PSrJvrkOHgUnGmXvPQ+0rFFf6DTbO2RVnT3+oOqbKAo6TXtGpMpWWWlZBi09iIqGdr1RVFOpiuFPz/75nzeOmdxAvSXvBHe02tbOZeXZA6z0bOQkEltmQAv0PH22byYNqvXhfMnZ/OaPEX+62U9TqdQRkxZ544aF731F9lzhMWy7nzy5MbG62pZR3yFebdVNkVz3npr58kZxmXrrJ2X5MTTAj9mrVZHdUUh6M48pnWKzc7LOmG98xamS+yOnFQfD2qkAKRsj12+o5Wvmh+hTqutGz6gD63g/fPOvsOivgqa2L1lwk+zjYyhY5znTMQoUoo8Jonc8TgYmAPyx6Sqi9iZeTM2B9V0OSu/Vf2nlMPHnV6L21ofUiIed24dEYfFtIhY34hBNkOqyvafBA105sz7txXY71ep28bO2ovsWUEe6GX3PtvLHh3SE6n6WD5qHbhyYV+GpPn7a4XWPbHo3nInHnnXlRXXCNHkDKSiUuZecqfGlii3OhqTBEvWSGlZlEr8UCb8XZD76nhy/gxPcfql/Z/2v9y6Mvot1EWPgZ2vxvpwBeafpGU33NodPD5sQbY9fE2trF3c+bzQbq+Myf5ZQk1+WZOcuw/eyZ5TJzn5qm9+Jri/qRqY7lwz+TvRZEqFd3BC8b4N6mtLfxX1Hup/7zBfK4Lf3dSrjF4Br3XE/wLjzEmluEioYDTwEnC3/MpHicyhB6XdoKwGz5pQnX0pTXhnBQpmXHJAtIt4nh2UVsyIH6yRRQJSzJMIlnOHaJ3wW8Xa+sJ+RSEqfyO+dtuqnmZIMMIGnmseGYJSjPnhNIFO7f1l03RVcCu+MjJBlIFDSkokr1H5YfqwMfNIpcQAICSnufJaMTF6XlDEPwwDNI4lboUBGrPGy0LM85wmnuARBc0zZjRJUgGBceTeOZnIXMsF2w66fATnMyyb4+fYnFTpgTNvckuP31oGbSQlq/IG0URrmPqJcTwsZsf7NcHkyW19r63+MeH7Bm/0UTPeUltjUXjOk0pJ+DDc2zbilcmlEblHTsjnpPEy6TgWF0zuvUSlkMREZIobHMarr4OzJSy1kHLDOGcRrceQxqpnVW4hCK0IAzVyAxblaFleORo0PaE7hSNwIJEPc+J3T0L3qp7/jBD1IGOD08wxkI6HICMQPRdjCbQz6LQFzxVYKkDLk70Ht2v3c0hPVbls1k7pv5zKfzKqrzYXItFGYTxjloA0qBhHD48ODSN2S8Oe8J5wWSrPx7dEl5sAMjlmuNVEiSTzw9h+n5Jki+e9W0niiZ1KgToIAVa5ICwbhqGNgfU0OBKF0Bq91YyhcwHHSwOOKgctHaPMTamdSP3YBAZhudMxYiDCI6yRPAwzp82aKS+YiTxJ6wUImVLYEsB9U8zw+Ajr4mE42+CTvv0GASE4aplRa8siiGSGOf6G3ApGRsUkOiYFYW10VprtnvJ+Zev9kWu06XJBHsW0D/V2tuDrt2nfcm9/RxNssFYK4FEFykvwwnA23Po3kMsQU2A5EmYyZxUTEOXwHcav+E79gJKjIrDaeUWUvZz8Nn17s309jkYRuM9zgzFagiKQ3G7JZeGVxj8wATyeTGqc9DPYFwrdoaJPl+UqxPqXDAlbYfddYNh3aNNjWbTOCUeMDawLFlhkRo/FshiTUDw5T6MH48HRHDPMTzd0/aSUpZHICJEUEtc1IQ0zyjmp9QJOC4psVa+R2SK2yhkLwRNs+2Di8HcIG2xNSXLHLCattE/CRsZGX+zl3POcO0szQrJCIDi/JRDzdb57T3nOFt8x3C3B+U4SnwPxbS21Dz5AEhipIkenONo8phStD4mmYekZ/7H75p/WRf/MoW5ds+gCuc7Iatks5hDxCEpcYywZCWXCNGBw93PaT7ZeXv4PLQqEZcYrAAA=&quot;"/>
    <we:property name="initialStateBookmark" value="&quot;H4sIAAAAAAAAA+1aTW8bORL9K0If9mQsil9VZG5JNqfZjINkMJdFsCiSRUc7smS0Wh57g/z3rW57MZiZaGWogZFno0scUexiFd+r4iu2Pnd1ub1Z8f33fC3di+7VZvPTNfc/LUx30a0fxy4vv3v78v13//z+5ds3Ory5GZab9bZ78bkbuL+S4cfldser0YIO/uPjRcer1Tu+Gj81Xm3loruRfrtZ82r5b3mYrF8N/U6+XHRyd7Pa9Dya/DDwIKPZW52un3Vt81enK3IZlrfyQcrwMMrJZyDHAYolgQBkrU7bPkyYPPvqlNH0tPzrzXrg5VqXGcfAU2lSBSIAFkniBcfx7XJ9tXp0+Jdnf7i/GXdlkLshb+7G/cj/0oVHS1++aECAbJNhZ/Q/AD4YLzzDmvodnLWWnEAKJaU4xzc2phpM4Hw2BUqIYsan23I1PG5Gvn9zd9Mrjorug7WX9ZbXRWo3gdXL9gGbz91b4e2unxB786svPmx2fZH30qav1sNyuB+xXLy5k7IboVxcKsS3S/m5G71612+UINOclzquzFm83m2HzbX0i/fKjPXVNO3T5ufXvShFavcCvnzUkf+5CYX7+vjVr/ZBP/RV+lf3U4x/W/b/pZW9+E0Yf2h8GtAEUAzF5AxcInFyhm1+VgD9sBl4tXgvt7Leyf8NLL+N6hEM0TQOPjpCnzm6ZLM7mHvbT6x/f5d5xiM30nRjI6xVCao/bGtvHpvANlZvss82EjFSqUd7xphNqgBgqxcHkTAfbauaGrBhsVr5REyoEI+21Ux1JgUx5IEppIBwrC3LyXgGTAktElgtgIdt7d19mxNXLgBZIlYThORwlDzR+dVuGJSsvzPp0FilGYij4mNkly2f8/5Eee/QQSOHEDAkLDXaao5ni0sEqBXdBAPWWRNwTua7GoIPqUGJtdoYs68zmOxaNlIkErBKgeqR7PPSA98S7bwT8o1VMpaYE1QtMul4aD0mTsJRivIOwVtJh4Xj8lrFyVdssUnokwFW6WgJJJqjy3pwlcRCMIm9njlUsp1BYLVWgk1a0FW/k542pszYsxAcuVoNVBcdUjTuCUfOfmvJIzZwOSJGDx7BHUZg365xDmhDqqz9jGJqDcs5UU+UqCHbAsl668loEUat6OfD+mRg1AJeRaePtRAmUmk9I2fRlIrBGwk2avtuR/V5bM6i9dKKaRZcyGCtia6caXIimqBTgeOT6rAALJCd6p4/DAy3eNWroU+Lvywu1c3psmu7eCd92/TX4wpfj+HhIdn+KaCZH+MjUIrUeElVxEcDiSTB4RN9XwZmlGwbRwQLWiEMJzhn4KkysHFGVaIpmaw9OKVAZzBOB4aq5SwQ2YEtoZRY4hmME4FBpKoeEK0eUEAGczZH38BREnTE4qrUwlbFEc+4bSAeLxtIiyh442NgbSTnWEtVidcypKD2UNuicCbdqUiXQZM+uyiRJAbvmOdeYkZIZbTIVvt7LLnkevhWei9bYiQyphkbAqgQKNXxYe4dcDAqA5mcUfqBJgdRORzzXgcTWN+wJEu5aHYELnT06wFNCGqauy4Wk5wjinOuHBOH6HJqNZsINXqy0R5vTY8Ibq0B5OwchqTy+XBPtN9aQAAVdcBa5Qr76t3Ru8YxhuAKhhpS1AKqXdbRr0E0RF8wGYNF6ZZtMDKDvNk6Q6YGRYARVYC6J3SlezzL3qXcmhPDHn1W/6ActLXnJi8HT626mHMmdCZG7U1nRJm0X3bNKJhiTYmV7Qxm5KyKUEi7eUo+CxGUwzmwJ87iudoxK4smaXCeENz5qDnRUVNQXHGpktO0gOCx1uf4Uvty3Lc/R7N9RFCPUFCqLecWrLbCVfRkJXyGUHwjecFQgzVeBQlzij6ZOW+lSwkRW6VRpFsab7vwOWbZNwJtVQCaEauaQlAqq06ZAW0TSV7lUtLjGpAq44xzthrV1M1Gr8KO0AJmPr++OBVRqmUIgcR7Y7Qjk1GSzYDWtZAx28qKbKgIlI5+UVubj2CqhWoqOOul1hnNkpDqMc5WpX+M2kSkp3RzezwTyaM7zSWP0WMqMc64lZCGlFRUa56iepYdpxmpKq14i6DdbzIUAyI+4S5nr7VmW3LQEog2rETMXo5+HdWoJNIWXdDZWBRUfgI39nsWa/K2idWzxpSi3aar5yJyoiLSJNRGJkGEIJBMrOXwT46/SpMJ219Gumvpr6YANrthe8NF3vFapsBvHpxayjRP4eR1feiYZUL9c/f3pTLhYeEfebUb15x+Dt5Ni6gvy7ySAw+MPxLvJrc+jv/8B3l/pUOvLgAA&quot;"/>
    <we:property name="isFiltersActionButtonVisible" value="true"/>
    <we:property name="isVisualContainerHeaderHidden" value="false"/>
    <we:property name="reportEmbeddedTime" value="&quot;2026-08-05T00:10:35.707Z&quot;"/>
    <we:property name="creatorTenantId" value="&quot;77255288-5298-4ea5-81aa-a13e604c30ac&quot;"/>
    <we:property name="creatorUserId" value="&quot;10032000F334671D&quot;"/>
    <we:property name="creatorSessionId" value="&quot;90705673-3e63-4ff6-8871-60c0d13a389d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A1C8E31-2E80-4E75-B4A4-531DA46E6F33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1aW2/bxhL+KwIf2hfjYO+XvCW2g1OgadM4yHk4CIzZ3aHNVhZVinLsBv7vHZKS4otkOrQjOxcbsKVdcnZ25pv5Zpb8mKViNh3D+W9wgtmz7EVZ/nUC1V8jnu1kk27MoDFRKstRGR1TkJgMzZbTuigns+zZx6yG6gjrd8VsDuNGEA3+//1OBuPxazhqvuUwnuFONsVqVk5gXPyD3cU0VVdzvNjJ8Gw6LitoRB7UUGMj9pQup++kAv+PpBUh1sUpHmCsu9GEOmnIudPMiwhBgGF02ay7oNVs7SWN6Hb53XJSQzGhZZoxxlTIjWDodWIRnHUhNuOzYnI0Xij86d6359PGODWe1aE8a+wR/qSFG0kXF7QhlhACyxWy6J30gkfBm7vzYlwvFgzn+2fTimxFFuyk7dLOj8qqiLRSa5MKZ50JPma75Xh+0n7avzJ+UM6riG8wb6cmdVGfk6S94uTwlxpPskaX11VJpm/Hm7HD1tnNxHH5YbdCWjRlz9jFexq5dbOzcRGxurLX7ATJ962poYZ2L9NutQK7+TK109hu9WP2a0Hb72S/g/G8EfvzHt2Ryg+Tn0kp+nnfqNY5mzT/85I72ztm7SoPb473rd84izwkMNExBhCTt4H3oqA4IZzfxACPTsYENsWAzjAMHFKvrNkxTNfJQm1cUGgFkwZF0oSvoXoJH3gCrhltVNtAEjXeC5v/LcinVTw+/xVPcXzTKav5m1NLZ7yDqujCv3XgXR37knBy+HuVGrWbrS3y2EpadsXd7YWHe01+aS6+pFbWDI4+DTTTi81kryhNHH/t8fJ9uKiLYQHapWCCsskxi2BZ6I+VDXEnglVCaxeDMs5rxWUQw1lB5HkMNmfcaEa/mEQ0QzWTLLocEjMAjEkWOAJsjuIFmWvl0TvUwBSLJkHywZPoRYy/Lae/0bdOQgugJQWLnexlVZ60ohYOnM3D33OszumGazBYTtDnP5YfbpMkGhFLuIjRK5zMRz+NCBRpHuvRa6zysjqBSWyM0NmEXeys7k6X714l+k9XUiVygGOy3N15Ywlwkr2ZMFZIzgsc04W0TgveF+ftQntFtaxUxHULvUKYzau+CFppIa5r8basYTz6Yw7ttkcHZbP+RaMBeTB7plt8dPsXn2ep/x1jo1drqEkq6oVev1yz2Gdw8J1s2aoOYYybb1/BbZHztl8f7ay48Hk6beCYbhDh3Rx7N6zfyeefzUlxPJ9RcGPq7LV7DFV9NbfQlweF8QPutoHJWqJbFCfnX7Q0lMHHEJDIhFlqiZgySg5O3rnV3CbOQHKUyVGPMJgIlHaO0nkKTFpnhZK6KzO31Gpc5/dLNtyj5uqwVf4rr56+iEU6VCnnyG1RUsMhojcpceUGIyHomJsgpZHBJBtdRPVUms5ViG4jsfLR/hnGeePU0e+nWJ0W+GF9inlDFeRk/rWm+zvo+PzoqMIjWDL5/peJ9F1ilZKi8/ANrTQ5aqdfzicL5uADwr9uyoH9sy1x0xDAdKlDxZwb7o2lzhxQEim4wZlcW2FUdNYLMMoIHiKE4bJMLgGkQZ8SEVZijj0NVlhh5Qcz3GKVjh00gs5V8CKgo8rDCd958Vb7QKvpi3ldt931NWAY5nIlFOgIgjsOQonBICOUGs+UEAk594lRGeIHy3JMemZzwUkhT3Soo90yeb2oKIceX/fMpdHvBqh3sEYHUHK/yyltAQfmuAzRCXVPgFruXIwOnJUqeoKXV/3HNz0ivUghIpVZpK+MmtB1S2G0OCvB3Fkq80FLzZPgUhAkH/2shF/u4dey1vd5RsL72frH6ciDFPJbOx15iCL+KZ+HDKs5H/MExHGNjijfojTaNynR9lcjG+je8YQSXAIZrHMhORtlL90/XifWXt9YZDYIZVClxdRTPWu7ssGupHDJySRM80cbbhGNjVtz0Xaif9t+Gd5nUnUtJQarqCIRyWqwor/U3vggCgwgizkzzFihQkDDsVfahsfJwSmllQxMeMYis4F6zqFZISDzEBSP9N8yqbVk/eXkBlkRpDYm5jExjBw1aD84WyVqlJJnECAKZI7wbfofA95ek6YYjEKyGPoQTWAMef/BwQYXpCSDAGWDNUZYwX3k93ui/y0f/D2ncbIipUacQvfO0ehtMeyVmHw+meBTSh63bG7rtcMlz3f1Q2oenlCGkAnQcgFGp/6Xoh6P85cBgt8q51/ZYEczKHzOAwoHTGjyU5K2P5lvpBmUGiUTLFnOTFCS8tSPBxJ9odt2yKPusOfb62jW7/LxcxPK5JNWAqKVltKTil7fA/jaeODBgreGITot3OCnehhE3ohTLBC1E81j6i/DHz+IvvHT0c9AFjVOCqNEJZQP1OpK2f8a6EZk5ZBTvS5MkMiSNswSoT5hDr3/CytPn0ZvvqbSOirkyDCANpF74bkyrP8Ye7PbowgcE6URFrXyhkXV38ys7RZacetCrpzXsylEfA0TXBN6BByYJEw94de+67+KvIuLfwGwc7tPYzAAAA==&quot;"/>
    <we:property name="creatorSessionId" value="&quot;90705673-3e63-4ff6-8871-60c0d13a389d&quot;"/>
    <we:property name="creatorTenantId" value="&quot;77255288-5298-4ea5-81aa-a13e604c30ac&quot;"/>
    <we:property name="creatorUserId" value="&quot;10032000F334671D&quot;"/>
    <we:property name="datasetId" value="&quot;611c5050-2133-48ea-a4a0-71c6b2a86836&quot;"/>
    <we:property name="embedUrl" value="&quot;/reportEmbed?reportId=60b65dbd-fcfb-4e9e-ae00-25f0e9eefcf1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TW8bORL9K0If9mQsil9VZG5JNqfZjINkMJdFsCiSRUc7smS0Wh57g/z3rW57MZiZaGWogZFno0scUexiFd+r4iu2Pnd1ub1Z8f33fC3di+7VZvPTNfc/LUx30a0fxy4vv3v78v13//z+5ds3Ory5GZab9bZ78bkbuL+S4cfldser0YIO/uPjRcer1Tu+Gj81Xm3loruRfrtZ82r5b3mYrF8N/U6+XHRyd7Pa9Dya/DDwIKPZW52un3Vt81enK3IZlrfyQcrwMMrJZyDHAYolgQBkrU7bPkyYPPvqlNH0tPzrzXrg5VqXGcfAU2lSBSIAFkniBcfx7XJ9tXp0+Jdnf7i/GXdlkLshb+7G/cj/0oVHS1++aECAbJNhZ/Q/AD4YLzzDmvodnLWWnEAKJaU4xzc2phpM4Hw2BUqIYsan23I1PG5Gvn9zd9Mrjorug7WX9ZbXRWo3gdXL9gGbz91b4e2unxB786svPmx2fZH30qav1sNyuB+xXLy5k7IboVxcKsS3S/m5G71612+UINOclzquzFm83m2HzbX0i/fKjPXVNO3T5ufXvShFavcCvnzUkf+5CYX7+vjVr/ZBP/RV+lf3U4x/W/b/pZW9+E0Yf2h8GtAEUAzF5AxcInFyhm1+VgD9sBl4tXgvt7Leyf8NLL+N6hEM0TQOPjpCnzm6ZLM7mHvbT6x/f5d5xiM30nRjI6xVCao/bGtvHpvANlZvss82EjFSqUd7xphNqgBgqxcHkTAfbauaGrBhsVr5REyoEI+21Ux1JgUx5IEppIBwrC3LyXgGTAktElgtgIdt7d19mxNXLgBZIlYThORwlDzR+dVuGJSsvzPp0FilGYij4mNkly2f8/5Eee/QQSOHEDAkLDXaao5ni0sEqBXdBAPWWRNwTua7GoIPqUGJtdoYs68zmOxaNlIkErBKgeqR7PPSA98S7bwT8o1VMpaYE1QtMul4aD0mTsJRivIOwVtJh4Xj8lrFyVdssUnokwFW6WgJJJqjy3pwlcRCMIm9njlUsp1BYLVWgk1a0FW/k542pszYsxAcuVoNVBcdUjTuCUfOfmvJIzZwOSJGDx7BHUZg365xDmhDqqz9jGJqDcs5UU+UqCHbAsl668loEUat6OfD+mRg1AJeRaePtRAmUmk9I2fRlIrBGwk2avtuR/V5bM6i9dKKaRZcyGCtia6caXIimqBTgeOT6rAALJCd6p4/DAy3eNWroU+Lvywu1c3psmu7eCd92/TX4wpfj+HhIdn+KaCZH+MjUIrUeElVxEcDiSTB4RN9XwZmlGwbRwQLWiEMJzhn4KkysHFGVaIpmaw9OKVAZzBOB4aq5SwQ2YEtoZRY4hmME4FBpKoeEK0eUEAGczZH38BREnTE4qrUwlbFEc+4bSAeLxtIiyh442NgbSTnWEtVidcypKD2UNuicCbdqUiXQZM+uyiRJAbvmOdeYkZIZbTIVvt7LLnkevhWei9bYiQyphkbAqgQKNXxYe4dcDAqA5mcUfqBJgdRORzzXgcTWN+wJEu5aHYELnT06wFNCGqauy4Wk5wjinOuHBOH6HJqNZsINXqy0R5vTY8Ibq0B5OwchqTy+XBPtN9aQAAVdcBa5Qr76t3Ru8YxhuAKhhpS1AKqXdbRr0E0RF8wGYNF6ZZtMDKDvNk6Q6YGRYARVYC6J3SlezzL3qXcmhPDHn1W/6ActLXnJi8HT626mHMmdCZG7U1nRJm0X3bNKJhiTYmV7Qxm5KyKUEi7eUo+CxGUwzmwJ87iudoxK4smaXCeENz5qDnRUVNQXHGpktO0gOCx1uf4Uvty3Lc/R7N9RFCPUFCqLecWrLbCVfRkJXyGUHwjecFQgzVeBQlzij6ZOW+lSwkRW6VRpFsab7vwOWbZNwJtVQCaEauaQlAqq06ZAW0TSV7lUtLjGpAq44xzthrV1M1Gr8KO0AJmPr++OBVRqmUIgcR7Y7Qjk1GSzYDWtZAx28qKbKgIlI5+UVubj2CqhWoqOOul1hnNkpDqMc5WpX+M2kSkp3RzezwTyaM7zSWP0WMqMc64lZCGlFRUa56iepYdpxmpKq14i6DdbzIUAyI+4S5nr7VmW3LQEog2rETMXo5+HdWoJNIWXdDZWBRUfgI39nsWa/K2idWzxpSi3aar5yJyoiLSJNRGJkGEIJBMrOXwT46/SpMJ219Gumvpr6YANrthe8NF3vFapsBvHpxayjRP4eR1feiYZUL9c/f3pTLhYeEfebUb15x+Dt5Ni6gvy7ySAw+MPxLvJrc+jv/8B3l/pUOvLgAA&quot;"/>
    <we:property name="isFiltersActionButtonVisible" value="true"/>
    <we:property name="isVisualContainerHeaderHidden" value="false"/>
    <we:property name="pageDisplayName" value="&quot;Menu &amp; Product Performance&quot;"/>
    <we:property name="pageName" value="&quot;de5d5af185092cab2a60&quot;"/>
    <we:property name="reportEmbeddedTime" value="&quot;2026-08-05T00:10:35.707Z&quot;"/>
    <we:property name="reportName" value="&quot;Restaurant Business Intelligence Analysis&quot;"/>
    <we:property name="reportState" value="&quot;CONNECTED&quot;"/>
    <we:property name="reportUrl" value="&quot;/groups/me/reports/60b65dbd-fcfb-4e9e-ae00-25f0e9eefcf1/de5d5af185092cab2a60?experience=power-bi&amp;pbi_source=storytelling_addin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FA1C8E31-2E80-4E75-B4A4-531DA46E6F33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1aW2/bxhL+KwIfTl+EYu+XvNV2ihZoGjcO0oeDwJjdHdpsZVGHohy7gf/7mSVlR1Zsy6EbW7k8idxdDuc+8w31vkjVfDaB89/hBItnxU5d/30Czd8jXoyLab/mjbbIkTNlGEfGkCVDu/WsrerpvHj2vmihOcL2TTVfwCQTosX/vh0XMJnsw1G+K2Eyx3Exw2ZeT2FS/YP9YdpqmwVejAs8m03qBjLJgxZazGRP6TjdEwv8R0lvhNhWp3iAse1XlS0dR5F8RKesDWB4oGPz/kDH2Y1HMunu9bv1tIVqSq/Ja0ygAiOZAOWZDizGpPP6vJoeTZYMf3j29fksK2d+DPRL2gh/0WsznYsLEocpdMYwmRLjmgmDSvqNtFo8a0N9dgM1I0pptTUiOamB6JqOs7KatEvmw/nzs1lDeidr9NR+SqcwjZiKTrkNzntdvi9eIMwXTafh59c2DupFE/EVlt3WtK3a86z70fMzjIus+tFLMslphe+KzNV+U5NBuzOv6xYmo5dNytzkveP63W6DZMdUPGMXb2nlTskjNGm5dU14usk0d847wfaq5tL2YrzG++cXiqTIpgDHSg3aOilcMD44CoahToK6RGZKZ4kquATCs41m3SWlHtVNFTtdXbfsLxU20MTj89/wFCcf6+Jq/+OtS7nfQFP1Udjp7b76/Jli83DF/st0ckWtuKbZ7uDhXg7zfHiFrSIvjj4s5O2lMMULitbjId41n1QRm2v6L06QUla+SNBCp99Zz1+F/X6dum3s1P+++K0ik/S038Bkkcn+sEdPpPrd9IfsHUv/6HMUyfrXShbqnph3b/k2TPS29+9SqeSN8RiZD0nIyMLGWKlOqGR8HCtcaa51YhZj4I4Fzd3guOMOomXcaxd00CwaYeRQWoKCV5YOvSTeDKdCk9JgWkilVhFTilHlYDzZwIYXDWlkEliyKMAzFCIaDg/KLrv1ZHEyva+77VUnh39Cjpr1vNqvHnb+94VH8+dRSR890nIbrEkCuGfWShE5DvcGpWJZokTJo0GPaJTA271h2fkhlSYTGWipeRKcKh7TRHrpK6/r2e9011PoFHPZr1F1/rmpTzpSyzQzX4T/LbA5L9YL98HlBl3/cXlxF6Xcmd5dx8dFrw12Mb56Kq0+lQ3xa4snKyepXT3ACWns/na9TL9Ee82cmfbSmFd5tqxwQgfpPS//1Zbmigt+c//yilLzdIFdAzPONiue6c4jesnFp+noz2PMHHUqmqaqXXL065quPiE67qXFjnUIE7z98SsHW0bvw7NXJ/0dPK1nrvETtt4frPzpvfdkMacAxtRraPcYmnbruvDrXnxjWl6WrvOBiXmTtfukrIxOIlJe9B5lYKAM2C1EYg9xh+2FYqtO0BnDc6pqhmnOvLQCrRfmETuc9YZ6hd+9aoqHnUK/qQbnnhpZhlKM2jsPqKTLgxmf5OYuHDoudxZt2wGWtSZHl0FoE1hygQkvA1oLDyRpkqYm2rmEPjFI1AzFOLS/t9KYMgYDBPyBRY8+bO7obsFDVpa6RM0xee8iQQ8WBuMhqy3RCEYxr7QV3DKmBtMypeUqlKT/5AOZIfgHYBgnQCEnXGW8YUIBda+bObvboM6YQLjKeemDJsWJAJuHLv9WBpejnYYIHY/+M3pJkdHh7vloH5uybk7yG25OfP1D+GWM1h4uY5+anItJCcFc4EYFzigQN+eH2z3Jl4r8vFQQMUZDkdx70iOi4U/tJ7/iQnH/hssB19RsBe6dY1TqQcnN+feWnOmSLAMkQckksqi1EkEMzXMOLSTrAoAxMUohifBQWp5JJX1MQnNjKd/lMdJQGT0V0+StZyaAxcS8gMf7VDAw9Pvpx1ed3T6I2IeTl9FyG0N0TlsmHQPx2Omol2Od3ZXVbUC3P9E6+flolzBqTblt9Io0Pj3aGv4eDLfaPNV4frZFWOt2lS9dVylgWtrgRQTrvHb4mKjrztJxNQP4Xk1vUElfUb0vMWa8DEGSIan49F9lvqeezzVY24HmW52qbbD00iMJsbNEPRBjkRGitQHidnvkV55M7mU1sErojPBZEgjoGTI+tAMG5LlxpbwEnhPQp55oMC3C9swZyzRjgRnBDOd2OG4Mghjj1gfLYpAkqkyD8UeQPFpLrEFQFiAB2M2Y4XbOEnDuBONcgQRhCSG7jdTuno2kkiVPoEirGByEZNk95me3mAGZtlLm+YozkkUhEhs8oMKoysBJ9T5GC5YJ0yvuzo+XWnn0Lk/aFIsmQfLBP/nHS7H6iU2MXlD6JSRBQZYWsb0GI77Nj5ji5kL1xwI6sUcHdX7/90+Zn3X0xFc6rqf/Q8j37u+L7f7u/2cXRM9FsBii15GuuVJyu1vAp52H7Dc4g376NHpdDRsfl4vpFLfpK+8dwj0pPilB8RgFZzy3EdF5YQbOejtyN0GCetHOZxBxH6Z4AzQgv4JpwrQBHnR/s79CBhcX/wc6vFO93i8AAA==&quot;"/>
    <we:property name="creatorSessionId" value="&quot;90705673-3e63-4ff6-8871-60c0d13a389d&quot;"/>
    <we:property name="creatorTenantId" value="&quot;77255288-5298-4ea5-81aa-a13e604c30ac&quot;"/>
    <we:property name="creatorUserId" value="&quot;10032000F334671D&quot;"/>
    <we:property name="datasetId" value="&quot;611c5050-2133-48ea-a4a0-71c6b2a86836&quot;"/>
    <we:property name="embedUrl" value="&quot;/reportEmbed?reportId=60b65dbd-fcfb-4e9e-ae00-25f0e9eefcf1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TW8bORL9K0If9mQsil9VZG5JNqfZjINkMJdFsCiSRUc7smS0Wh57g/z3rW57MZiZaGWogZFno0scUexiFd+r4iu2Pnd1ub1Z8f33fC3di+7VZvPTNfc/LUx30a0fxy4vv3v78v13//z+5ds3Ory5GZab9bZ78bkbuL+S4cfldser0YIO/uPjRcer1Tu+Gj81Xm3loruRfrtZ82r5b3mYrF8N/U6+XHRyd7Pa9Dya/DDwIKPZW52un3Vt81enK3IZlrfyQcrwMMrJZyDHAYolgQBkrU7bPkyYPPvqlNH0tPzrzXrg5VqXGcfAU2lSBSIAFkniBcfx7XJ9tXp0+Jdnf7i/GXdlkLshb+7G/cj/0oVHS1++aECAbJNhZ/Q/AD4YLzzDmvodnLWWnEAKJaU4xzc2phpM4Hw2BUqIYsan23I1PG5Gvn9zd9Mrjorug7WX9ZbXRWo3gdXL9gGbz91b4e2unxB786svPmx2fZH30qav1sNyuB+xXLy5k7IboVxcKsS3S/m5G71612+UINOclzquzFm83m2HzbX0i/fKjPXVNO3T5ufXvShFavcCvnzUkf+5CYX7+vjVr/ZBP/RV+lf3U4x/W/b/pZW9+E0Yf2h8GtAEUAzF5AxcInFyhm1+VgD9sBl4tXgvt7Leyf8NLL+N6hEM0TQOPjpCnzm6ZLM7mHvbT6x/f5d5xiM30nRjI6xVCao/bGtvHpvANlZvss82EjFSqUd7xphNqgBgqxcHkTAfbauaGrBhsVr5REyoEI+21Ux1JgUx5IEppIBwrC3LyXgGTAktElgtgIdt7d19mxNXLgBZIlYThORwlDzR+dVuGJSsvzPp0FilGYij4mNkly2f8/5Eee/QQSOHEDAkLDXaao5ni0sEqBXdBAPWWRNwTua7GoIPqUGJtdoYs68zmOxaNlIkErBKgeqR7PPSA98S7bwT8o1VMpaYE1QtMul4aD0mTsJRivIOwVtJh4Xj8lrFyVdssUnokwFW6WgJJJqjy3pwlcRCMIm9njlUsp1BYLVWgk1a0FW/k542pszYsxAcuVoNVBcdUjTuCUfOfmvJIzZwOSJGDx7BHUZg365xDmhDqqz9jGJqDcs5UU+UqCHbAsl668loEUat6OfD+mRg1AJeRaePtRAmUmk9I2fRlIrBGwk2avtuR/V5bM6i9dKKaRZcyGCtia6caXIimqBTgeOT6rAALJCd6p4/DAy3eNWroU+Lvywu1c3psmu7eCd92/TX4wpfj+HhIdn+KaCZH+MjUIrUeElVxEcDiSTB4RN9XwZmlGwbRwQLWiEMJzhn4KkysHFGVaIpmaw9OKVAZzBOB4aq5SwQ2YEtoZRY4hmME4FBpKoeEK0eUEAGczZH38BREnTE4qrUwlbFEc+4bSAeLxtIiyh442NgbSTnWEtVidcypKD2UNuicCbdqUiXQZM+uyiRJAbvmOdeYkZIZbTIVvt7LLnkevhWei9bYiQyphkbAqgQKNXxYe4dcDAqA5mcUfqBJgdRORzzXgcTWN+wJEu5aHYELnT06wFNCGqauy4Wk5wjinOuHBOH6HJqNZsINXqy0R5vTY8Ibq0B5OwchqTy+XBPtN9aQAAVdcBa5Qr76t3Ru8YxhuAKhhpS1AKqXdbRr0E0RF8wGYNF6ZZtMDKDvNk6Q6YGRYARVYC6J3SlezzL3qXcmhPDHn1W/6ActLXnJi8HT626mHMmdCZG7U1nRJm0X3bNKJhiTYmV7Qxm5KyKUEi7eUo+CxGUwzmwJ87iudoxK4smaXCeENz5qDnRUVNQXHGpktO0gOCx1uf4Uvty3Lc/R7N9RFCPUFCqLecWrLbCVfRkJXyGUHwjecFQgzVeBQlzij6ZOW+lSwkRW6VRpFsab7vwOWbZNwJtVQCaEauaQlAqq06ZAW0TSV7lUtLjGpAq44xzthrV1M1Gr8KO0AJmPr++OBVRqmUIgcR7Y7Qjk1GSzYDWtZAx28qKbKgIlI5+UVubj2CqhWoqOOul1hnNkpDqMc5WpX+M2kSkp3RzezwTyaM7zSWP0WMqMc64lZCGlFRUa56iepYdpxmpKq14i6DdbzIUAyI+4S5nr7VmW3LQEog2rETMXo5+HdWoJNIWXdDZWBRUfgI39nsWa/K2idWzxpSi3aar5yJyoiLSJNRGJkGEIJBMrOXwT46/SpMJ219Gumvpr6YANrthe8NF3vFapsBvHpxayjRP4eR1feiYZUL9c/f3pTLhYeEfebUb15x+Dt5Ni6gvy7ySAw+MPxLvJrc+jv/8B3l/pUOvLgAA&quot;"/>
    <we:property name="isFiltersActionButtonVisible" value="true"/>
    <we:property name="isVisualContainerHeaderHidden" value="false"/>
    <we:property name="pageDisplayName" value="&quot;Branch &amp; Operations Performance&quot;"/>
    <we:property name="pageName" value="&quot;47f81e2d9ce8477ba61b&quot;"/>
    <we:property name="reportEmbeddedTime" value="&quot;2026-08-05T00:10:35.707Z&quot;"/>
    <we:property name="reportName" value="&quot;Restaurant Business Intelligence Analysis&quot;"/>
    <we:property name="reportState" value="&quot;CONNECTED&quot;"/>
    <we:property name="reportUrl" value="&quot;/groups/me/reports/60b65dbd-fcfb-4e9e-ae00-25f0e9eefcf1/47f81e2d9ce8477ba61b?experience=power-bi&amp;pbi_source=storytelling_addin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FA1C8E31-2E80-4E75-B4A4-531DA46E6F33}">
  <we:reference id="wa200003233" version="2.0.0.3" store="en-US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1az29bOQ7+VwIf9hQsSP0gpd6m3d52t0U7mMuiB0qiUu84dvBsZ9It+r8vn53BYGbqdeAHjDNbX5JY75ki9X2kPkr5PGvz9d1CPv1TbnX2YvZytfrxVoYfr3B2PVvuxyhgiqlnV5JWKB5bc/Z0dbeZr5br2YvPs40MN7r5Yb7eymI0ZIP/+nA9k8XirdyMn7os1no9u9NhvVrKYv4f3b9sjzbDVr9cz/ThbrEaZDT5fiMbHc3e2+v22VzAv3qbUepmfq/vtW72o5JDAfYSoTpWiMBudGy9f2Hn2VdfGU3vpn+1Wm5kvrRpxjEIXLs2hQRAVbMGpXF8PV/eLB4d/uW733+6Gxdnow+bsnoY16P82yYeLX35YgEBicsoHu0PgBAxqEywZn5H75xjr5BjzTlN8U0QG1IGHwpWqDEpjt/u88XmcTHKp9cPd4PhaOjurX3X7mVZtc12YA263mPzefYPlfV22CH2+lcP3q+2Q9V32nePlpv55tOI5dXrB63bEcqrNwbx/Vx/mo1evR1WRpDdO9/ZuDHn6tV2vVnd6nD1zpixvNm99nH106tBjSJt9gK+fLCR/7kIVYb2+OhX62AfhqbDy0+7GP82H36mlbv+TRh/aHwW0A6gFCuWAlITS/YorjwrgL5fbWRx9U7vdbnV/xtYfhvVIxhqaRxD8kyhSPJWCP3R3Ft/FPv9u8zDQNLZ0k1QxaoStHDc1sE8xigutYAlFJeYhbi2kz0TKpgbALgW1ENiKifbatgidarOKp8qxgbpZFsdm8ccFTmAcMyR4FRbTjIGAcqZHDE4K4DHbR1cfVeyNKkARRM1jMp6PErZ0fnldrMxsv7OpCd0RjNQzzWkJL44ueT9mfLek4fOniBSzFRbcg1PZ4vPDGQVHSOC8w4jTcl832IMMXeoydRYSiW0CUz2vaBWTQxiUqAFYve89MC3RLvglUMXk4w1lQzNikw+HdpAWbKKKXfjHUFwmo8Lx/mtiZOv2BLMFDKCmHR0DJrw5LIefWN1EDFLsD2Ha3ETCGzWanTZCrrpd7bdBuuENYvRs28NofnkiRP6J2w5h63lQNTBl0SUAgQCfxyBQ6smJZKLuYn1M4apQ9FLop4pUWNxFbILLvDYEpNV9MtmfTYwWoVgojOkVpkym7SekLOEtVEMqNEla9/dqD5PzVlyQXvF7sDHAs5h8vVCkzPRhLwJnJBNh0UQHQ+z9I8Dw1+9HMzQx6u/XL0xN3eHXeurtzr01XA7zvD1GPZf0vWfAprpMT4CZUiNh1RVQ0LIrBmO7+iHMrCQFtclETiwCoGS4ZKB58rALoVMieaMxXpwzpEvYJwPDFPLRSGJB1djrammCxhnAoPZVD0QOduggJFKwZNP4DgreRb1TVsVZ+JIJpw2sIyHDWxFFAKGFMUaySnWcjPi9QI5mj2ytiheSHcu0hWwpC8+aWJNMXiRqYeYCXIdLYqz/p5qqaUdP5U+yJaUmBE7uhjBhEBtXo5z74iDyRgo7NHoB5YczPV4zAcdzOBCp5odl2rZEaXyydcDlhDcLXd9qpi9Z05TjhyzxORL7q1ggpYCu+ROt2ZbhPTeAUrxnmI2+Xy8JzpsLRKAiToQq3JVQgv+5FWTlGL0lWKLOVkBtS7r5GsQCzFUyohUjW7FRdQJ5C3OI2OLhoAQmQD1T+hKD3hWgs+ld68ogUIx/6AetXXgJK/EwL35VEph8piS9aYToszWL/uOBqY6rKmJm8CMUkwRKls3zzkUZYZ6PAcOxFmDNDdmZbUkjT4wgb9sNWfaaiqprz439pYWEAO19hwvtd+M6/bnaLZPCOoRCs6tl9Kjs1a4qe2sTM8Qim8kLwRadBhMkIjkFDJOuZWuNSbqjUeR7ng87aLnmGXfCLTNAOiozjSFkjYxnTIB2q6ag8mlbNs1EDehCftsQ9PU3aVgwo7JARW5XF+ciyjNCcTIGgKidWQ6SrIJ0PoeCxXXxJCNjYDzyRe1rYcE2Bw0bOBd0NYmNEvKpsekOJP+KVkTkZ/SzR3wTLWM7nSfA6VAuaY04VRCO3E2UW15SuZZ8ZInpKr2GhyBdb8ZOUUiesJZzkFr3fXsoWdQa1iZRYKefB3VuWa2Fl3Ju1QNVHkCNw57lloOrquzvQZrtW7Tt0sROVMR6RpbZ8yQICpkTK0e/5fjr9Jkh+0vI7NbHW52Aay2m/WdVH0rS90Ffrd3aq679wxOWbZ9x6w71D/P/j43Juwn/kEW23HO3b+Dz3bTfBh//BciMMCghi4AAA==&quot;"/>
    <we:property name="creatorSessionId" value="&quot;90705673-3e63-4ff6-8871-60c0d13a389d&quot;"/>
    <we:property name="creatorTenantId" value="&quot;77255288-5298-4ea5-81aa-a13e604c30ac&quot;"/>
    <we:property name="creatorUserId" value="&quot;10032000F334671D&quot;"/>
    <we:property name="datasetId" value="&quot;611c5050-2133-48ea-a4a0-71c6b2a86836&quot;"/>
    <we:property name="embedUrl" value="&quot;/reportEmbed?reportId=60b65dbd-fcfb-4e9e-ae00-25f0e9eefcf1&amp;config=eyJjbHVzdGVyVXJsIjoiaHR0cHM6Ly9XQUJJLU5PUlRILUVVUk9QRS1P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TW8bORL9K0If9mQsil9VZG5JNqfZjINkMJdFsCiSRUc7smS0Wh57g/z3rW57MZiZaGWogZFno0scUexiFd+r4iu2Pnd1ub1Z8f33fC3di+7VZvPTNfc/LUx30a0fxy4vv3v78v13//z+5ds3Ory5GZab9bZ78bkbuL+S4cfldser0YIO/uPjRcer1Tu+Gj81Xm3loruRfrtZ82r5b3mYrF8N/U6+XHRyd7Pa9Dya/DDwIKPZW52un3Vt81enK3IZlrfyQcrwMMrJZyDHAYolgQBkrU7bPkyYPPvqlNH0tPzrzXrg5VqXGcfAU2lSBSIAFkniBcfx7XJ9tXp0+Jdnf7i/GXdlkLshb+7G/cj/0oVHS1++aECAbJNhZ/Q/AD4YLzzDmvodnLWWnEAKJaU4xzc2phpM4Hw2BUqIYsan23I1PG5Gvn9zd9Mrjorug7WX9ZbXRWo3gdXL9gGbz91b4e2unxB786svPmx2fZH30qav1sNyuB+xXLy5k7IboVxcKsS3S/m5G71612+UINOclzquzFm83m2HzbX0i/fKjPXVNO3T5ufXvShFavcCvnzUkf+5CYX7+vjVr/ZBP/RV+lf3U4x/W/b/pZW9+E0Yf2h8GtAEUAzF5AxcInFyhm1+VgD9sBl4tXgvt7Leyf8NLL+N6hEM0TQOPjpCnzm6ZLM7mHvbT6x/f5d5xiM30nRjI6xVCao/bGtvHpvANlZvss82EjFSqUd7xphNqgBgqxcHkTAfbauaGrBhsVr5REyoEI+21Ux1JgUx5IEppIBwrC3LyXgGTAktElgtgIdt7d19mxNXLgBZIlYThORwlDzR+dVuGJSsvzPp0FilGYij4mNkly2f8/5Eee/QQSOHEDAkLDXaao5ni0sEqBXdBAPWWRNwTua7GoIPqUGJtdoYs68zmOxaNlIkErBKgeqR7PPSA98S7bwT8o1VMpaYE1QtMul4aD0mTsJRivIOwVtJh4Xj8lrFyVdssUnokwFW6WgJJJqjy3pwlcRCMIm9njlUsp1BYLVWgk1a0FW/k542pszYsxAcuVoNVBcdUjTuCUfOfmvJIzZwOSJGDx7BHUZg365xDmhDqqz9jGJqDcs5UU+UqCHbAsl668loEUat6OfD+mRg1AJeRaePtRAmUmk9I2fRlIrBGwk2avtuR/V5bM6i9dKKaRZcyGCtia6caXIimqBTgeOT6rAALJCd6p4/DAy3eNWroU+Lvywu1c3psmu7eCd92/TX4wpfj+HhIdn+KaCZH+MjUIrUeElVxEcDiSTB4RN9XwZmlGwbRwQLWiEMJzhn4KkysHFGVaIpmaw9OKVAZzBOB4aq5SwQ2YEtoZRY4hmME4FBpKoeEK0eUEAGczZH38BREnTE4qrUwlbFEc+4bSAeLxtIiyh442NgbSTnWEtVidcypKD2UNuicCbdqUiXQZM+uyiRJAbvmOdeYkZIZbTIVvt7LLnkevhWei9bYiQyphkbAqgQKNXxYe4dcDAqA5mcUfqBJgdRORzzXgcTWN+wJEu5aHYELnT06wFNCGqauy4Wk5wjinOuHBOH6HJqNZsINXqy0R5vTY8Ibq0B5OwchqTy+XBPtN9aQAAVdcBa5Qr76t3Ru8YxhuAKhhpS1AKqXdbRr0E0RF8wGYNF6ZZtMDKDvNk6Q6YGRYARVYC6J3SlezzL3qXcmhPDHn1W/6ActLXnJi8HT626mHMmdCZG7U1nRJm0X3bNKJhiTYmV7Qxm5KyKUEi7eUo+CxGUwzmwJ87iudoxK4smaXCeENz5qDnRUVNQXHGpktO0gOCx1uf4Uvty3Lc/R7N9RFCPUFCqLecWrLbCVfRkJXyGUHwjecFQgzVeBQlzij6ZOW+lSwkRW6VRpFsab7vwOWbZNwJtVQCaEauaQlAqq06ZAW0TSV7lUtLjGpAq44xzthrV1M1Gr8KO0AJmPr++OBVRqmUIgcR7Y7Qjk1GSzYDWtZAx28qKbKgIlI5+UVubj2CqhWoqOOul1hnNkpDqMc5WpX+M2kSkp3RzezwTyaM7zSWP0WMqMc64lZCGlFRUa56iepYdpxmpKq14i6DdbzIUAyI+4S5nr7VmW3LQEog2rETMXo5+HdWoJNIWXdDZWBRUfgI39nsWa/K2idWzxpSi3aar5yJyoiLSJNRGJkGEIJBMrOXwT46/SpMJ219Gumvpr6YANrthe8NF3vFapsBvHpxayjRP4eR1feiYZUL9c/f3pTLhYeEfebUb15x+Dt5Ni6gvy7ySAw+MPxLvJrc+jv/8B3l/pUOvLgAA&quot;"/>
    <we:property name="isFiltersActionButtonVisible" value="true"/>
    <we:property name="isVisualContainerHeaderHidden" value="false"/>
    <we:property name="pageDisplayName" value="&quot;Insights &amp; Recommendations&quot;"/>
    <we:property name="pageName" value="&quot;a94b073a50c27e050722&quot;"/>
    <we:property name="reportEmbeddedTime" value="&quot;2026-08-05T00:10:35.707Z&quot;"/>
    <we:property name="reportName" value="&quot;Restaurant Business Intelligence Analysis&quot;"/>
    <we:property name="reportState" value="&quot;CONNECTED&quot;"/>
    <we:property name="reportUrl" value="&quot;/groups/me/reports/60b65dbd-fcfb-4e9e-ae00-25f0e9eefcf1/a94b073a50c27e050722?experience=power-bi&amp;pbi_source=storytelling_addin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2084</Words>
  <Application>Microsoft Office PowerPoint</Application>
  <PresentationFormat>Widescreen</PresentationFormat>
  <Paragraphs>335</Paragraphs>
  <Slides>23</Slides>
  <Notes>18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Poppins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دينا محسن جمال الدين عبدالسلام</cp:lastModifiedBy>
  <cp:revision>25</cp:revision>
  <dcterms:created xsi:type="dcterms:W3CDTF">2026-08-01T01:40:03Z</dcterms:created>
  <dcterms:modified xsi:type="dcterms:W3CDTF">2026-08-05T01:16:02Z</dcterms:modified>
</cp:coreProperties>
</file>